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47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6B6390-F0B3-C0C8-A668-A1D9375008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EDFD782-37E6-DCA2-4658-59B46340C4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42EC572-1905-CE7A-7B78-EDD8A4FF61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02A25-14E5-4222-8AFB-CA3C557DE5DD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278990F-3372-52B5-99EA-10F88A639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12E8E09-C466-64C4-5F14-3AB2B9C0F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3E224-CE3F-4FFE-9010-DD9742F41B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81784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FEB458-E7E6-EAAB-D704-E7080E663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DE613B-D88A-0B46-F795-FB6A74F83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7ACDAA6-643D-AB6F-D4C9-334C918FE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02A25-14E5-4222-8AFB-CA3C557DE5DD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08A5C2C-2268-D9C0-1482-050185607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293116F-2DF5-5F76-824A-24FC285A1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3E224-CE3F-4FFE-9010-DD9742F41B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27208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41E6C2-DC42-9C1C-29A0-6C4618451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1EAAC68-EB92-CB67-1EE1-5856D9DAF8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B698A4-A49C-6CD0-4441-F4A23C5A0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02A25-14E5-4222-8AFB-CA3C557DE5DD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9B6B711-BED1-BFBE-D700-8A07C5A34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9053C6E-23BF-5FBB-2355-07DBDBA20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3E224-CE3F-4FFE-9010-DD9742F41B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48798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9CEFED-88FE-6E51-95B5-F47D5CBD4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211FACD-A3E3-142C-4B3E-F956FE6BA1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529A908-95E6-6AAF-54BC-5CD5CCC32F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4DB284-057D-24E0-2214-5B315EA15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02A25-14E5-4222-8AFB-CA3C557DE5DD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4A62947-7F77-E8AE-35EE-ADE4785CE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AC4DED1-B5EC-28F0-D674-E7ABBA02C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3E224-CE3F-4FFE-9010-DD9742F41B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989805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71CA06-92EB-E943-0F70-F39C67C98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FAA848A-19EE-E82A-943B-674BDD7B53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D4D4CD6-4404-C74B-953B-A71A466CFB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3C6C5CD2-5831-C7C5-2291-0687D51912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C181C6F-E306-BF82-6D12-B77BC68319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197CEC2D-CBB3-7A4F-6708-5FA35A9F2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02A25-14E5-4222-8AFB-CA3C557DE5DD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DDB29DE-9A44-D610-F12D-C2D1E501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2EFDE4B-DBDA-3FF4-344A-F209D1244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3E224-CE3F-4FFE-9010-DD9742F41B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50621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4DCCDD-A0C0-B673-5788-9DBF62B0E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911C1EA-FB0A-5A2D-A4A5-94C8E93F9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02A25-14E5-4222-8AFB-CA3C557DE5DD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7B7D30E-C067-971C-6EB9-6C5E65784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071551E-0722-A6D7-6AFA-96B36495B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3E224-CE3F-4FFE-9010-DD9742F41B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54146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ABC7B05-82D3-D421-4579-4BFCDA5CE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02A25-14E5-4222-8AFB-CA3C557DE5DD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6F184A9-C73E-916A-05A7-07B36434C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CB5886D-AD0A-28CF-8D91-47EF6F58A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3E224-CE3F-4FFE-9010-DD9742F41B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970651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CA62B0-2276-2A7D-BB98-ECE642B9B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05A9A78-B71A-F2DB-72F0-834F900649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7F7B497-74E4-E6DF-38D3-211AB718A2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D232C3E-4F04-CDCE-9A9D-48FAA4348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02A25-14E5-4222-8AFB-CA3C557DE5DD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C26B83F-179D-A150-2ECF-DBE74F16C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75D77FE-537F-B3E0-53CA-8E5795DD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3E224-CE3F-4FFE-9010-DD9742F41B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14960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120FCA-1536-861F-E7F2-FD2A16F80A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0E1A8AC-73F3-AACF-110D-11941E4288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0B4D886-3137-C04E-3039-D2A8726888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56AD831-5FAB-E58E-2AFC-4863E9476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02A25-14E5-4222-8AFB-CA3C557DE5DD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44DD529-A522-0B6D-DD87-1BE884485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D52280D-13CB-CF87-4D2E-6C9D475B8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3E224-CE3F-4FFE-9010-DD9742F41B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52544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253475-F4F6-666B-1E95-ED11D7529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FBB4F40-023A-EB8A-CDCB-F4AF3786FE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FEAF097-FA21-D695-C2DA-9F5CA7DA6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02A25-14E5-4222-8AFB-CA3C557DE5DD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6E1A442-D12C-3CE4-B9CA-59A089A61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7C69FFD-393C-5F76-2658-36DA40CA9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3E224-CE3F-4FFE-9010-DD9742F41B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55592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CD67436-3B84-5768-BAAC-BD671E6049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0CFF36A-D760-BA45-A9BC-8CB1780C7B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B4B38B9-A2A8-0641-E92C-4B3FDDE56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02A25-14E5-4222-8AFB-CA3C557DE5DD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8D2F62B-4D9D-730F-CD39-3CDB52CF0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2DF0E6D-4C57-1EF2-E36C-9E3E29D78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13E224-CE3F-4FFE-9010-DD9742F41B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91386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39C9E33-A2B2-8BC1-E3B9-6D8F537A8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1380A9F-488B-38CD-9B06-3E4053B126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AB82C3-6345-4AD8-2F3C-3FA6DAB795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D02A25-14E5-4222-8AFB-CA3C557DE5DD}" type="datetimeFigureOut">
              <a:rPr lang="es-CL" smtClean="0"/>
              <a:t>09-07-2026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F81EEB7-059C-778D-B60C-A25F03CE5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EF3752-DF6D-5CA2-1E13-9ED9D10FAC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13E224-CE3F-4FFE-9010-DD9742F41B9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7795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08A28F4-A5BA-0BF6-958B-CA742A3D00B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E652042-B9C6-DAB1-355A-60D1EE457BCC}"/>
              </a:ext>
            </a:extLst>
          </p:cNvPr>
          <p:cNvSpPr/>
          <p:nvPr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rgbClr val="0F172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F17CE0B-FAF6-6500-15E7-99FAFEDE8B26}"/>
              </a:ext>
            </a:extLst>
          </p:cNvPr>
          <p:cNvSpPr txBox="1"/>
          <p:nvPr/>
        </p:nvSpPr>
        <p:spPr>
          <a:xfrm>
            <a:off x="889000" y="914400"/>
            <a:ext cx="10414000" cy="359073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2000" b="1">
                <a:solidFill>
                  <a:srgbClr val="BAE6FD"/>
                </a:solidFill>
                <a:latin typeface="Aptos" panose="020B0004020202020204" pitchFamily="34" charset="0"/>
              </a:rPr>
              <a:t>SISTEMA DE GESTIÓN DE GASTOS COMUNES</a:t>
            </a:r>
            <a:endParaRPr lang="es-CL" sz="2000" b="1">
              <a:solidFill>
                <a:srgbClr val="BAE6FD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93D0768-99B8-79E2-A275-3CD8F4046892}"/>
              </a:ext>
            </a:extLst>
          </p:cNvPr>
          <p:cNvSpPr txBox="1"/>
          <p:nvPr/>
        </p:nvSpPr>
        <p:spPr>
          <a:xfrm>
            <a:off x="889000" y="1714500"/>
            <a:ext cx="10414000" cy="882293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5400" b="1">
                <a:solidFill>
                  <a:srgbClr val="FFFFFF"/>
                </a:solidFill>
                <a:latin typeface="Aptos" panose="020B0004020202020204" pitchFamily="34" charset="0"/>
              </a:rPr>
              <a:t>El Mirador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F815842-2BC8-9CC0-0BE9-5D524DB9BDDB}"/>
              </a:ext>
            </a:extLst>
          </p:cNvPr>
          <p:cNvSpPr txBox="1"/>
          <p:nvPr/>
        </p:nvSpPr>
        <p:spPr>
          <a:xfrm>
            <a:off x="914400" y="2984500"/>
            <a:ext cx="9652000" cy="38985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pt-BR" sz="2200">
                <a:solidFill>
                  <a:srgbClr val="CBD5E1"/>
                </a:solidFill>
                <a:latin typeface="Aptos" panose="020B0004020202020204" pitchFamily="34" charset="0"/>
              </a:rPr>
              <a:t>Prototipo funcional · Arquitectura 4+1 · Calidad ISO/IEC 25010</a:t>
            </a:r>
            <a:endParaRPr lang="es-CL" sz="2200">
              <a:solidFill>
                <a:srgbClr val="CBD5E1"/>
              </a:solidFill>
              <a:latin typeface="Aptos" panose="020B0004020202020204" pitchFamily="34" charset="0"/>
            </a:endParaRP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59C11727-E7E4-163E-D7A7-42AE82FD5329}"/>
              </a:ext>
            </a:extLst>
          </p:cNvPr>
          <p:cNvSpPr/>
          <p:nvPr/>
        </p:nvSpPr>
        <p:spPr>
          <a:xfrm>
            <a:off x="914400" y="4191000"/>
            <a:ext cx="2159000" cy="355600"/>
          </a:xfrm>
          <a:prstGeom prst="round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1858732-0E8B-BB0A-53C2-5E0E4273A8D9}"/>
              </a:ext>
            </a:extLst>
          </p:cNvPr>
          <p:cNvSpPr txBox="1"/>
          <p:nvPr/>
        </p:nvSpPr>
        <p:spPr>
          <a:xfrm>
            <a:off x="1016000" y="4254500"/>
            <a:ext cx="1955800" cy="20518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s-CL" sz="1000" b="1">
                <a:solidFill>
                  <a:srgbClr val="FFFFFF"/>
                </a:solidFill>
                <a:latin typeface="Aptos" panose="020B0004020202020204" pitchFamily="34" charset="0"/>
              </a:rPr>
              <a:t>React + TypeScript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CA0A3D67-681D-8B54-6FF1-ACEF1EEBBFAF}"/>
              </a:ext>
            </a:extLst>
          </p:cNvPr>
          <p:cNvSpPr/>
          <p:nvPr/>
        </p:nvSpPr>
        <p:spPr>
          <a:xfrm>
            <a:off x="3302000" y="4191000"/>
            <a:ext cx="1524000" cy="355600"/>
          </a:xfrm>
          <a:prstGeom prst="round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E082C99-A1E0-9627-40F9-0105953B92EF}"/>
              </a:ext>
            </a:extLst>
          </p:cNvPr>
          <p:cNvSpPr txBox="1"/>
          <p:nvPr/>
        </p:nvSpPr>
        <p:spPr>
          <a:xfrm>
            <a:off x="3403600" y="4254500"/>
            <a:ext cx="1320800" cy="20518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s-CL" sz="1000" b="1">
                <a:solidFill>
                  <a:srgbClr val="FFFFFF"/>
                </a:solidFill>
                <a:latin typeface="Aptos" panose="020B0004020202020204" pitchFamily="34" charset="0"/>
              </a:rPr>
              <a:t>Vite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843F894B-9387-1244-B378-3841CBBE70DD}"/>
              </a:ext>
            </a:extLst>
          </p:cNvPr>
          <p:cNvSpPr/>
          <p:nvPr/>
        </p:nvSpPr>
        <p:spPr>
          <a:xfrm>
            <a:off x="5054600" y="4191000"/>
            <a:ext cx="1905000" cy="355600"/>
          </a:xfrm>
          <a:prstGeom prst="roundRect">
            <a:avLst/>
          </a:prstGeom>
          <a:solidFill>
            <a:srgbClr val="22C5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781D3100-B2A3-079F-B2BC-33DBB53E5743}"/>
              </a:ext>
            </a:extLst>
          </p:cNvPr>
          <p:cNvSpPr txBox="1"/>
          <p:nvPr/>
        </p:nvSpPr>
        <p:spPr>
          <a:xfrm>
            <a:off x="5156200" y="4254500"/>
            <a:ext cx="1701800" cy="20518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s-CL" sz="1000" b="1">
                <a:solidFill>
                  <a:srgbClr val="FFFFFF"/>
                </a:solidFill>
                <a:latin typeface="Aptos" panose="020B0004020202020204" pitchFamily="34" charset="0"/>
              </a:rPr>
              <a:t>ISO 25010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2F9FDCA-AB5B-77F1-7169-07639338CAD1}"/>
              </a:ext>
            </a:extLst>
          </p:cNvPr>
          <p:cNvSpPr txBox="1"/>
          <p:nvPr/>
        </p:nvSpPr>
        <p:spPr>
          <a:xfrm>
            <a:off x="889000" y="5562600"/>
            <a:ext cx="7620000" cy="512961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500">
                <a:solidFill>
                  <a:srgbClr val="E2E8F0"/>
                </a:solidFill>
                <a:latin typeface="Aptos" panose="020B0004020202020204" pitchFamily="34" charset="0"/>
              </a:rPr>
              <a:t>Matías Guerra · Felipe Hernández</a:t>
            </a:r>
          </a:p>
          <a:p>
            <a:r>
              <a:rPr lang="es-MX" sz="1500">
                <a:solidFill>
                  <a:srgbClr val="E2E8F0"/>
                </a:solidFill>
                <a:latin typeface="Aptos" panose="020B0004020202020204" pitchFamily="34" charset="0"/>
              </a:rPr>
              <a:t>RQY1102 Ingeniería de Software · Examen Transversal</a:t>
            </a:r>
            <a:endParaRPr lang="es-CL" sz="1500">
              <a:solidFill>
                <a:srgbClr val="E2E8F0"/>
              </a:solidFill>
              <a:latin typeface="Aptos" panose="020B00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F6E4440-62E7-457F-1313-71E00228E636}"/>
              </a:ext>
            </a:extLst>
          </p:cNvPr>
          <p:cNvSpPr txBox="1"/>
          <p:nvPr/>
        </p:nvSpPr>
        <p:spPr>
          <a:xfrm>
            <a:off x="9652000" y="5778500"/>
            <a:ext cx="1778000" cy="359073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r"/>
            <a:r>
              <a:rPr lang="es-CL" sz="2000" b="1">
                <a:solidFill>
                  <a:srgbClr val="7DD3FC"/>
                </a:solidFill>
                <a:latin typeface="Aptos" panose="020B0004020202020204" pitchFamily="34" charset="0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359229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B9B8CD25-B1E4-97F3-AF1F-5E75A3095CAC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B1F3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7DA29DF6-110A-832A-FA0B-F88070C0039F}"/>
              </a:ext>
            </a:extLst>
          </p:cNvPr>
          <p:cNvSpPr/>
          <p:nvPr/>
        </p:nvSpPr>
        <p:spPr>
          <a:xfrm>
            <a:off x="0" y="736600"/>
            <a:ext cx="4318000" cy="508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3D2C140-6802-ADBD-BD4E-1456A1B6B80E}"/>
              </a:ext>
            </a:extLst>
          </p:cNvPr>
          <p:cNvSpPr txBox="1"/>
          <p:nvPr/>
        </p:nvSpPr>
        <p:spPr>
          <a:xfrm>
            <a:off x="304800" y="190500"/>
            <a:ext cx="8382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CL" sz="1600" b="1">
                <a:solidFill>
                  <a:srgbClr val="FFFFFF"/>
                </a:solidFill>
                <a:latin typeface="Aptos Display" panose="020B0004020202020204" pitchFamily="34" charset="0"/>
              </a:rPr>
              <a:t>PROYECTO “EL MIRADOR”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66BCC1D2-BCD4-5165-6B5E-0ADC3797CDBE}"/>
              </a:ext>
            </a:extLst>
          </p:cNvPr>
          <p:cNvSpPr txBox="1"/>
          <p:nvPr/>
        </p:nvSpPr>
        <p:spPr>
          <a:xfrm>
            <a:off x="8255000" y="203200"/>
            <a:ext cx="36322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s-CL" sz="1000">
                <a:solidFill>
                  <a:srgbClr val="CBD5E1"/>
                </a:solidFill>
                <a:latin typeface="Aptos" panose="020B0004020202020204" pitchFamily="34" charset="0"/>
              </a:rPr>
              <a:t>RQY1102 · Ingeniería de Software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14D10B5-D4F5-2B94-CE6C-01A11D908F5E}"/>
              </a:ext>
            </a:extLst>
          </p:cNvPr>
          <p:cNvSpPr txBox="1"/>
          <p:nvPr/>
        </p:nvSpPr>
        <p:spPr>
          <a:xfrm>
            <a:off x="508000" y="1041400"/>
            <a:ext cx="11176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2700" b="1">
                <a:solidFill>
                  <a:srgbClr val="0B1F34"/>
                </a:solidFill>
                <a:latin typeface="Aptos Display" panose="020B0004020202020204" pitchFamily="34" charset="0"/>
              </a:rPr>
              <a:t>Integrantes, roles y organización del trabajo</a:t>
            </a:r>
            <a:endParaRPr lang="es-CL" sz="2700" b="1">
              <a:solidFill>
                <a:srgbClr val="0B1F34"/>
              </a:solidFill>
              <a:latin typeface="Aptos Display" panose="020B0004020202020204" pitchFamily="34" charset="0"/>
            </a:endParaRP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59504E8F-C9FB-24AC-BD53-AD0AA2DEC42E}"/>
              </a:ext>
            </a:extLst>
          </p:cNvPr>
          <p:cNvSpPr/>
          <p:nvPr/>
        </p:nvSpPr>
        <p:spPr>
          <a:xfrm>
            <a:off x="736600" y="1955800"/>
            <a:ext cx="3302000" cy="26670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AB0C8C03-54BA-52BF-07B0-285F2F5A22E5}"/>
              </a:ext>
            </a:extLst>
          </p:cNvPr>
          <p:cNvSpPr/>
          <p:nvPr/>
        </p:nvSpPr>
        <p:spPr>
          <a:xfrm>
            <a:off x="698500" y="1905000"/>
            <a:ext cx="3302000" cy="266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204A7302-8CC6-696E-CA78-F3B22473D439}"/>
              </a:ext>
            </a:extLst>
          </p:cNvPr>
          <p:cNvSpPr/>
          <p:nvPr/>
        </p:nvSpPr>
        <p:spPr>
          <a:xfrm>
            <a:off x="698500" y="1905000"/>
            <a:ext cx="3302000" cy="76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BC32073-C6E7-A854-0687-C0452FFDEF88}"/>
              </a:ext>
            </a:extLst>
          </p:cNvPr>
          <p:cNvSpPr txBox="1"/>
          <p:nvPr/>
        </p:nvSpPr>
        <p:spPr>
          <a:xfrm>
            <a:off x="927100" y="2133600"/>
            <a:ext cx="2844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Matías Guerra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2ED975A-367B-0A0A-D97D-8CB2CAE0A9D9}"/>
              </a:ext>
            </a:extLst>
          </p:cNvPr>
          <p:cNvSpPr txBox="1"/>
          <p:nvPr/>
        </p:nvSpPr>
        <p:spPr>
          <a:xfrm>
            <a:off x="927100" y="2590800"/>
            <a:ext cx="2844800" cy="60529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Desarrollo e integración del prototipo.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Configuración React/Vite.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Documentación técnica y repositorio.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BD7187D8-0AFA-CC7D-BBDE-90D83F045BD6}"/>
              </a:ext>
            </a:extLst>
          </p:cNvPr>
          <p:cNvSpPr/>
          <p:nvPr/>
        </p:nvSpPr>
        <p:spPr>
          <a:xfrm>
            <a:off x="4483100" y="1955800"/>
            <a:ext cx="3302000" cy="26670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23D85FFA-74CE-6E64-D709-7C5F045BA087}"/>
              </a:ext>
            </a:extLst>
          </p:cNvPr>
          <p:cNvSpPr/>
          <p:nvPr/>
        </p:nvSpPr>
        <p:spPr>
          <a:xfrm>
            <a:off x="4445000" y="1905000"/>
            <a:ext cx="3302000" cy="266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D43BB8DE-C1ED-B89C-B803-9B0C46D92507}"/>
              </a:ext>
            </a:extLst>
          </p:cNvPr>
          <p:cNvSpPr/>
          <p:nvPr/>
        </p:nvSpPr>
        <p:spPr>
          <a:xfrm>
            <a:off x="4445000" y="1905000"/>
            <a:ext cx="3302000" cy="762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BDC261F-70E2-242A-5C58-E2DE038FE40E}"/>
              </a:ext>
            </a:extLst>
          </p:cNvPr>
          <p:cNvSpPr txBox="1"/>
          <p:nvPr/>
        </p:nvSpPr>
        <p:spPr>
          <a:xfrm>
            <a:off x="4673600" y="2133600"/>
            <a:ext cx="2844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Felipe Hernández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DE687CB-E0AC-C1C0-CB8C-0B1C58D7DAD0}"/>
              </a:ext>
            </a:extLst>
          </p:cNvPr>
          <p:cNvSpPr txBox="1"/>
          <p:nvPr/>
        </p:nvSpPr>
        <p:spPr>
          <a:xfrm>
            <a:off x="4673600" y="2590800"/>
            <a:ext cx="2844800" cy="60529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Requisitos RF/RNF.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Plan de pruebas y evidencias.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Apoyo en presentación y DAS.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0FB2DD3C-EC36-C5A6-E16C-614A296EBE4B}"/>
              </a:ext>
            </a:extLst>
          </p:cNvPr>
          <p:cNvSpPr/>
          <p:nvPr/>
        </p:nvSpPr>
        <p:spPr>
          <a:xfrm>
            <a:off x="8229600" y="1955800"/>
            <a:ext cx="3302000" cy="26670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52EB944D-0805-1A63-CB77-A69B92AC6D44}"/>
              </a:ext>
            </a:extLst>
          </p:cNvPr>
          <p:cNvSpPr/>
          <p:nvPr/>
        </p:nvSpPr>
        <p:spPr>
          <a:xfrm>
            <a:off x="8191500" y="1905000"/>
            <a:ext cx="3302000" cy="266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76905CD7-16E0-D8B3-C059-A25FA3313E85}"/>
              </a:ext>
            </a:extLst>
          </p:cNvPr>
          <p:cNvSpPr/>
          <p:nvPr/>
        </p:nvSpPr>
        <p:spPr>
          <a:xfrm>
            <a:off x="8191500" y="1905000"/>
            <a:ext cx="3302000" cy="76200"/>
          </a:xfrm>
          <a:prstGeom prst="rect">
            <a:avLst/>
          </a:prstGeom>
          <a:solidFill>
            <a:srgbClr val="22C5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3072EF0-5A3E-6A73-7409-9AA4630F0C97}"/>
              </a:ext>
            </a:extLst>
          </p:cNvPr>
          <p:cNvSpPr txBox="1"/>
          <p:nvPr/>
        </p:nvSpPr>
        <p:spPr>
          <a:xfrm>
            <a:off x="8420100" y="2133600"/>
            <a:ext cx="2844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Trabajo colaborativo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C4F5633B-0CC7-147B-09CB-610E516F3C8C}"/>
              </a:ext>
            </a:extLst>
          </p:cNvPr>
          <p:cNvSpPr txBox="1"/>
          <p:nvPr/>
        </p:nvSpPr>
        <p:spPr>
          <a:xfrm>
            <a:off x="8420100" y="2590800"/>
            <a:ext cx="2844800" cy="60529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Gestión por versiones v1.0 a v8.0.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Control en GitHub.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Entregables ordenados según rúbrica.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9CE1AC3E-790C-CC7D-5D77-E7A5DB94DC99}"/>
              </a:ext>
            </a:extLst>
          </p:cNvPr>
          <p:cNvSpPr txBox="1"/>
          <p:nvPr/>
        </p:nvSpPr>
        <p:spPr>
          <a:xfrm>
            <a:off x="1143000" y="5143500"/>
            <a:ext cx="9906000" cy="512961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s-MX" sz="1500" b="1">
                <a:solidFill>
                  <a:srgbClr val="0B1F34"/>
                </a:solidFill>
                <a:latin typeface="Aptos" panose="020B0004020202020204" pitchFamily="34" charset="0"/>
              </a:rPr>
              <a:t>Objetivo de la exposición: demostrar que el prototipo, la arquitectura, las pruebas y el control de versiones cumplen los indicadores del examen transversal.</a:t>
            </a:r>
            <a:endParaRPr lang="es-CL" sz="1500" b="1">
              <a:solidFill>
                <a:srgbClr val="0B1F3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426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FA59A5A-440B-7701-1595-C528DEB230AF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B1F3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0BC2488-2979-0D2F-E80F-DFD66F15B376}"/>
              </a:ext>
            </a:extLst>
          </p:cNvPr>
          <p:cNvSpPr/>
          <p:nvPr/>
        </p:nvSpPr>
        <p:spPr>
          <a:xfrm>
            <a:off x="0" y="736600"/>
            <a:ext cx="4318000" cy="508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78E88CB-0201-0914-99D6-D94DC93B2393}"/>
              </a:ext>
            </a:extLst>
          </p:cNvPr>
          <p:cNvSpPr txBox="1"/>
          <p:nvPr/>
        </p:nvSpPr>
        <p:spPr>
          <a:xfrm>
            <a:off x="304800" y="190500"/>
            <a:ext cx="8382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CL" sz="1600" b="1">
                <a:solidFill>
                  <a:srgbClr val="FFFFFF"/>
                </a:solidFill>
                <a:latin typeface="Aptos Display" panose="020B0004020202020204" pitchFamily="34" charset="0"/>
              </a:rPr>
              <a:t>PROYECTO “EL MIRADOR”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563CDCF-4240-0C07-F038-BDEF39277D10}"/>
              </a:ext>
            </a:extLst>
          </p:cNvPr>
          <p:cNvSpPr txBox="1"/>
          <p:nvPr/>
        </p:nvSpPr>
        <p:spPr>
          <a:xfrm>
            <a:off x="8255000" y="203200"/>
            <a:ext cx="36322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s-CL" sz="1000">
                <a:solidFill>
                  <a:srgbClr val="CBD5E1"/>
                </a:solidFill>
                <a:latin typeface="Aptos" panose="020B0004020202020204" pitchFamily="34" charset="0"/>
              </a:rPr>
              <a:t>RQY1102 · Ingeniería de Software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4ABDA21-FC81-A309-3CCE-407FB210F17C}"/>
              </a:ext>
            </a:extLst>
          </p:cNvPr>
          <p:cNvSpPr txBox="1"/>
          <p:nvPr/>
        </p:nvSpPr>
        <p:spPr>
          <a:xfrm>
            <a:off x="508000" y="1041400"/>
            <a:ext cx="11176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2700" b="1">
                <a:solidFill>
                  <a:srgbClr val="0B1F34"/>
                </a:solidFill>
                <a:latin typeface="Aptos Display" panose="020B0004020202020204" pitchFamily="34" charset="0"/>
              </a:rPr>
              <a:t>Problema del edificio y solución propuesta</a:t>
            </a:r>
            <a:endParaRPr lang="es-CL" sz="2700" b="1">
              <a:solidFill>
                <a:srgbClr val="0B1F34"/>
              </a:solidFill>
              <a:latin typeface="Aptos Display" panose="020B0004020202020204" pitchFamily="34" charset="0"/>
            </a:endParaRP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BB9EF33E-8168-E6CF-6C23-FCC947176A52}"/>
              </a:ext>
            </a:extLst>
          </p:cNvPr>
          <p:cNvSpPr/>
          <p:nvPr/>
        </p:nvSpPr>
        <p:spPr>
          <a:xfrm>
            <a:off x="927100" y="2019300"/>
            <a:ext cx="4699000" cy="31750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09A19595-8CF0-A4D0-282C-3C1685920FEE}"/>
              </a:ext>
            </a:extLst>
          </p:cNvPr>
          <p:cNvSpPr/>
          <p:nvPr/>
        </p:nvSpPr>
        <p:spPr>
          <a:xfrm>
            <a:off x="889000" y="1968500"/>
            <a:ext cx="4699000" cy="3175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5FA054F-AF63-0E31-9C01-73E57D04662E}"/>
              </a:ext>
            </a:extLst>
          </p:cNvPr>
          <p:cNvSpPr/>
          <p:nvPr/>
        </p:nvSpPr>
        <p:spPr>
          <a:xfrm>
            <a:off x="889000" y="1968500"/>
            <a:ext cx="4699000" cy="76200"/>
          </a:xfrm>
          <a:prstGeom prst="rect">
            <a:avLst/>
          </a:prstGeom>
          <a:solidFill>
            <a:srgbClr val="EF444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F32B8A5-DC58-2B48-D9B5-E8AD2EE5EE06}"/>
              </a:ext>
            </a:extLst>
          </p:cNvPr>
          <p:cNvSpPr txBox="1"/>
          <p:nvPr/>
        </p:nvSpPr>
        <p:spPr>
          <a:xfrm>
            <a:off x="1117600" y="2197100"/>
            <a:ext cx="4241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Problema / necesidad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C76D5D9F-6579-49D6-A161-FD4E6E1985A6}"/>
              </a:ext>
            </a:extLst>
          </p:cNvPr>
          <p:cNvSpPr txBox="1"/>
          <p:nvPr/>
        </p:nvSpPr>
        <p:spPr>
          <a:xfrm>
            <a:off x="1117600" y="2654300"/>
            <a:ext cx="4241800" cy="97462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Cobros y registros manuales.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Dificultad para detectar morosidad.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Baja transparencia para residentes.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Reclamos y comunicaciones dispersas.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Sin trazabilidad digital de pagos y recibos.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ED4C3AEB-C1A7-6B4B-A4B0-FCF69781D6DE}"/>
              </a:ext>
            </a:extLst>
          </p:cNvPr>
          <p:cNvSpPr/>
          <p:nvPr/>
        </p:nvSpPr>
        <p:spPr>
          <a:xfrm>
            <a:off x="6642100" y="2019300"/>
            <a:ext cx="4699000" cy="31750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3B6EFED4-84E5-4CE0-2B29-61555A7BDD79}"/>
              </a:ext>
            </a:extLst>
          </p:cNvPr>
          <p:cNvSpPr/>
          <p:nvPr/>
        </p:nvSpPr>
        <p:spPr>
          <a:xfrm>
            <a:off x="6604000" y="1968500"/>
            <a:ext cx="4699000" cy="3175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FCE6606-5E20-8446-CD7C-03045EFB5B36}"/>
              </a:ext>
            </a:extLst>
          </p:cNvPr>
          <p:cNvSpPr/>
          <p:nvPr/>
        </p:nvSpPr>
        <p:spPr>
          <a:xfrm>
            <a:off x="6604000" y="1968500"/>
            <a:ext cx="4699000" cy="76200"/>
          </a:xfrm>
          <a:prstGeom prst="rect">
            <a:avLst/>
          </a:prstGeom>
          <a:solidFill>
            <a:srgbClr val="22C5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85C6531-EDCA-CC60-8FD2-0CE88C71AFC3}"/>
              </a:ext>
            </a:extLst>
          </p:cNvPr>
          <p:cNvSpPr txBox="1"/>
          <p:nvPr/>
        </p:nvSpPr>
        <p:spPr>
          <a:xfrm>
            <a:off x="6832600" y="2197100"/>
            <a:ext cx="4241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Solución de software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AC4191F-6A30-548C-3006-5C5A3C6B0BD6}"/>
              </a:ext>
            </a:extLst>
          </p:cNvPr>
          <p:cNvSpPr txBox="1"/>
          <p:nvPr/>
        </p:nvSpPr>
        <p:spPr>
          <a:xfrm>
            <a:off x="6832600" y="2654300"/>
            <a:ext cx="4241800" cy="97462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Plataforma web para administración y residentes.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Registro de gastos, pagos, recibos y deudas.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Módulos de reclamos, avisos y mensajes.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Reportes financieros y dashboard ejecutivo.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Acceso especial por código para arrendatarios.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7" name="Flecha: a la derecha 16">
            <a:extLst>
              <a:ext uri="{FF2B5EF4-FFF2-40B4-BE49-F238E27FC236}">
                <a16:creationId xmlns:a16="http://schemas.microsoft.com/office/drawing/2014/main" id="{02022E34-C533-E0DF-6FEC-9B0198AD98E6}"/>
              </a:ext>
            </a:extLst>
          </p:cNvPr>
          <p:cNvSpPr/>
          <p:nvPr/>
        </p:nvSpPr>
        <p:spPr>
          <a:xfrm>
            <a:off x="5778500" y="3200400"/>
            <a:ext cx="635000" cy="698500"/>
          </a:xfrm>
          <a:prstGeom prst="rightArrow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5471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836A4DAE-1E47-1700-1543-33055C0561F2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B1F3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0484B10-2AA3-B5F4-A1D2-14B14FCE0338}"/>
              </a:ext>
            </a:extLst>
          </p:cNvPr>
          <p:cNvSpPr/>
          <p:nvPr/>
        </p:nvSpPr>
        <p:spPr>
          <a:xfrm>
            <a:off x="0" y="736600"/>
            <a:ext cx="4318000" cy="508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4D08E73-56C2-E209-729A-F6E2F72D481D}"/>
              </a:ext>
            </a:extLst>
          </p:cNvPr>
          <p:cNvSpPr txBox="1"/>
          <p:nvPr/>
        </p:nvSpPr>
        <p:spPr>
          <a:xfrm>
            <a:off x="304800" y="190500"/>
            <a:ext cx="8382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CL" sz="1600" b="1">
                <a:solidFill>
                  <a:srgbClr val="FFFFFF"/>
                </a:solidFill>
                <a:latin typeface="Aptos Display" panose="020B0004020202020204" pitchFamily="34" charset="0"/>
              </a:rPr>
              <a:t>PROYECTO “EL MIRADOR”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EEFCD1B-06FD-1030-A848-2915DDF56753}"/>
              </a:ext>
            </a:extLst>
          </p:cNvPr>
          <p:cNvSpPr txBox="1"/>
          <p:nvPr/>
        </p:nvSpPr>
        <p:spPr>
          <a:xfrm>
            <a:off x="8255000" y="203200"/>
            <a:ext cx="36322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s-CL" sz="1000">
                <a:solidFill>
                  <a:srgbClr val="CBD5E1"/>
                </a:solidFill>
                <a:latin typeface="Aptos" panose="020B0004020202020204" pitchFamily="34" charset="0"/>
              </a:rPr>
              <a:t>RQY1102 · Ingeniería de Software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6A110D2-E305-6325-B368-BE2D99EA0318}"/>
              </a:ext>
            </a:extLst>
          </p:cNvPr>
          <p:cNvSpPr txBox="1"/>
          <p:nvPr/>
        </p:nvSpPr>
        <p:spPr>
          <a:xfrm>
            <a:off x="508000" y="1041400"/>
            <a:ext cx="11176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2700" b="1">
                <a:solidFill>
                  <a:srgbClr val="0B1F34"/>
                </a:solidFill>
                <a:latin typeface="Aptos Display" panose="020B0004020202020204" pitchFamily="34" charset="0"/>
              </a:rPr>
              <a:t>Ciclo de vida del software aplicado</a:t>
            </a:r>
            <a:endParaRPr lang="es-CL" sz="2700" b="1">
              <a:solidFill>
                <a:srgbClr val="0B1F34"/>
              </a:solidFill>
              <a:latin typeface="Aptos Display" panose="020B0004020202020204" pitchFamily="34" charset="0"/>
            </a:endParaRP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ACECFFF-A4B5-3FC4-04F6-9B8CD491AA47}"/>
              </a:ext>
            </a:extLst>
          </p:cNvPr>
          <p:cNvSpPr/>
          <p:nvPr/>
        </p:nvSpPr>
        <p:spPr>
          <a:xfrm>
            <a:off x="800100" y="2209800"/>
            <a:ext cx="1778000" cy="26035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2F41DC9D-0DE8-35BC-8039-816BA24E6000}"/>
              </a:ext>
            </a:extLst>
          </p:cNvPr>
          <p:cNvSpPr/>
          <p:nvPr/>
        </p:nvSpPr>
        <p:spPr>
          <a:xfrm>
            <a:off x="762000" y="2159000"/>
            <a:ext cx="1778000" cy="260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5C7C8A3-3DB8-924D-DE85-C116C51761C4}"/>
              </a:ext>
            </a:extLst>
          </p:cNvPr>
          <p:cNvSpPr/>
          <p:nvPr/>
        </p:nvSpPr>
        <p:spPr>
          <a:xfrm>
            <a:off x="762000" y="2159000"/>
            <a:ext cx="1778000" cy="76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D1AF0791-0CCB-1754-B9A9-69A616E30D01}"/>
              </a:ext>
            </a:extLst>
          </p:cNvPr>
          <p:cNvSpPr txBox="1"/>
          <p:nvPr/>
        </p:nvSpPr>
        <p:spPr>
          <a:xfrm>
            <a:off x="990600" y="2387600"/>
            <a:ext cx="1320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1. Análisis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E285432D-DC55-AD33-E59F-1338A921A174}"/>
              </a:ext>
            </a:extLst>
          </p:cNvPr>
          <p:cNvSpPr txBox="1"/>
          <p:nvPr/>
        </p:nvSpPr>
        <p:spPr>
          <a:xfrm>
            <a:off x="990600" y="2844800"/>
            <a:ext cx="1320800" cy="60529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Problema, actores, RF/RNF y alcance.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57F48B38-54E5-8AA6-C3A8-3D47DE4868CD}"/>
              </a:ext>
            </a:extLst>
          </p:cNvPr>
          <p:cNvSpPr/>
          <p:nvPr/>
        </p:nvSpPr>
        <p:spPr>
          <a:xfrm>
            <a:off x="3022600" y="2209800"/>
            <a:ext cx="1778000" cy="26035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E0FD853B-E116-8D19-56A8-A4D3ED3F2387}"/>
              </a:ext>
            </a:extLst>
          </p:cNvPr>
          <p:cNvSpPr/>
          <p:nvPr/>
        </p:nvSpPr>
        <p:spPr>
          <a:xfrm>
            <a:off x="2984500" y="2159000"/>
            <a:ext cx="1778000" cy="260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9AFE16F1-BD32-2B1C-F332-ABE6D222C481}"/>
              </a:ext>
            </a:extLst>
          </p:cNvPr>
          <p:cNvSpPr/>
          <p:nvPr/>
        </p:nvSpPr>
        <p:spPr>
          <a:xfrm>
            <a:off x="2984500" y="2159000"/>
            <a:ext cx="1778000" cy="762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9B816926-7205-759F-B7BD-4B76D0F3EC4D}"/>
              </a:ext>
            </a:extLst>
          </p:cNvPr>
          <p:cNvSpPr txBox="1"/>
          <p:nvPr/>
        </p:nvSpPr>
        <p:spPr>
          <a:xfrm>
            <a:off x="3213100" y="2387600"/>
            <a:ext cx="1320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2. Diseño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5410137-5453-C76A-3594-159EBFF629A1}"/>
              </a:ext>
            </a:extLst>
          </p:cNvPr>
          <p:cNvSpPr txBox="1"/>
          <p:nvPr/>
        </p:nvSpPr>
        <p:spPr>
          <a:xfrm>
            <a:off x="3213100" y="2844800"/>
            <a:ext cx="1320800" cy="60529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pt-BR" sz="1200">
                <a:solidFill>
                  <a:srgbClr val="334155"/>
                </a:solidFill>
                <a:latin typeface="Aptos" panose="020B0004020202020204" pitchFamily="34" charset="0"/>
              </a:rPr>
              <a:t>DAS 2.6, arquitectura 4+1 y prototipo.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87C6C13F-4CD8-EEFB-FD04-2AAF964BCFBC}"/>
              </a:ext>
            </a:extLst>
          </p:cNvPr>
          <p:cNvSpPr/>
          <p:nvPr/>
        </p:nvSpPr>
        <p:spPr>
          <a:xfrm>
            <a:off x="5245100" y="2209800"/>
            <a:ext cx="1778000" cy="26035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2686CF98-D673-50C6-B8F0-51FD9DBC262A}"/>
              </a:ext>
            </a:extLst>
          </p:cNvPr>
          <p:cNvSpPr/>
          <p:nvPr/>
        </p:nvSpPr>
        <p:spPr>
          <a:xfrm>
            <a:off x="5207000" y="2159000"/>
            <a:ext cx="1778000" cy="260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EFD7876B-6D1F-7D95-D54D-9DDC25AFDD00}"/>
              </a:ext>
            </a:extLst>
          </p:cNvPr>
          <p:cNvSpPr/>
          <p:nvPr/>
        </p:nvSpPr>
        <p:spPr>
          <a:xfrm>
            <a:off x="5207000" y="2159000"/>
            <a:ext cx="1778000" cy="76200"/>
          </a:xfrm>
          <a:prstGeom prst="rect">
            <a:avLst/>
          </a:prstGeom>
          <a:solidFill>
            <a:srgbClr val="22C5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41A81602-5809-A441-C467-AA5D0D6EF34E}"/>
              </a:ext>
            </a:extLst>
          </p:cNvPr>
          <p:cNvSpPr txBox="1"/>
          <p:nvPr/>
        </p:nvSpPr>
        <p:spPr>
          <a:xfrm>
            <a:off x="5435600" y="2387600"/>
            <a:ext cx="1320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3. Desarrollo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24B1EE6-44CD-5C5B-298A-E252D6942D4F}"/>
              </a:ext>
            </a:extLst>
          </p:cNvPr>
          <p:cNvSpPr txBox="1"/>
          <p:nvPr/>
        </p:nvSpPr>
        <p:spPr>
          <a:xfrm>
            <a:off x="5435600" y="2844800"/>
            <a:ext cx="1320800" cy="60529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Implementación React/Vite por módulos.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22" name="Rectángulo: esquinas redondeadas 21">
            <a:extLst>
              <a:ext uri="{FF2B5EF4-FFF2-40B4-BE49-F238E27FC236}">
                <a16:creationId xmlns:a16="http://schemas.microsoft.com/office/drawing/2014/main" id="{D7BE4D17-5114-D2CE-2EDC-1C4CA0F2698F}"/>
              </a:ext>
            </a:extLst>
          </p:cNvPr>
          <p:cNvSpPr/>
          <p:nvPr/>
        </p:nvSpPr>
        <p:spPr>
          <a:xfrm>
            <a:off x="7467600" y="2209800"/>
            <a:ext cx="1778000" cy="26035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6335FE6E-7763-5CF1-27FE-21ABEF827EB2}"/>
              </a:ext>
            </a:extLst>
          </p:cNvPr>
          <p:cNvSpPr/>
          <p:nvPr/>
        </p:nvSpPr>
        <p:spPr>
          <a:xfrm>
            <a:off x="7429500" y="2159000"/>
            <a:ext cx="1778000" cy="260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F63B7A39-E217-02E6-21ED-9DE3B49E287A}"/>
              </a:ext>
            </a:extLst>
          </p:cNvPr>
          <p:cNvSpPr/>
          <p:nvPr/>
        </p:nvSpPr>
        <p:spPr>
          <a:xfrm>
            <a:off x="7429500" y="2159000"/>
            <a:ext cx="1778000" cy="76200"/>
          </a:xfrm>
          <a:prstGeom prst="rect">
            <a:avLst/>
          </a:prstGeom>
          <a:solidFill>
            <a:srgbClr val="F59E0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AD8D7332-9275-0430-55DB-A793DF5E2F58}"/>
              </a:ext>
            </a:extLst>
          </p:cNvPr>
          <p:cNvSpPr txBox="1"/>
          <p:nvPr/>
        </p:nvSpPr>
        <p:spPr>
          <a:xfrm>
            <a:off x="7658100" y="2387600"/>
            <a:ext cx="1320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4. Testing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C73D1698-CDB6-9B06-A73B-8518775A404E}"/>
              </a:ext>
            </a:extLst>
          </p:cNvPr>
          <p:cNvSpPr txBox="1"/>
          <p:nvPr/>
        </p:nvSpPr>
        <p:spPr>
          <a:xfrm>
            <a:off x="7658100" y="2844800"/>
            <a:ext cx="1320800" cy="60529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Plan ISO25000, casos y evidencias.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F7366A14-7950-75B1-8173-9C1046907EC4}"/>
              </a:ext>
            </a:extLst>
          </p:cNvPr>
          <p:cNvSpPr/>
          <p:nvPr/>
        </p:nvSpPr>
        <p:spPr>
          <a:xfrm>
            <a:off x="9690100" y="2209800"/>
            <a:ext cx="1778000" cy="26035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C34C500D-882A-D515-B813-6DCC11241B27}"/>
              </a:ext>
            </a:extLst>
          </p:cNvPr>
          <p:cNvSpPr/>
          <p:nvPr/>
        </p:nvSpPr>
        <p:spPr>
          <a:xfrm>
            <a:off x="9652000" y="2159000"/>
            <a:ext cx="1778000" cy="260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401019D6-C5FD-EC67-A2BD-4BA8EA92154E}"/>
              </a:ext>
            </a:extLst>
          </p:cNvPr>
          <p:cNvSpPr/>
          <p:nvPr/>
        </p:nvSpPr>
        <p:spPr>
          <a:xfrm>
            <a:off x="9652000" y="2159000"/>
            <a:ext cx="1778000" cy="76200"/>
          </a:xfrm>
          <a:prstGeom prst="rect">
            <a:avLst/>
          </a:prstGeom>
          <a:solidFill>
            <a:srgbClr val="0B1F3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8024009C-A256-5E3D-E9CB-07595CA25EE5}"/>
              </a:ext>
            </a:extLst>
          </p:cNvPr>
          <p:cNvSpPr txBox="1"/>
          <p:nvPr/>
        </p:nvSpPr>
        <p:spPr>
          <a:xfrm>
            <a:off x="9880600" y="2387600"/>
            <a:ext cx="1320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5. Entrega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25A66E6-A2A2-4AE6-3A27-14857C4541EE}"/>
              </a:ext>
            </a:extLst>
          </p:cNvPr>
          <p:cNvSpPr txBox="1"/>
          <p:nvPr/>
        </p:nvSpPr>
        <p:spPr>
          <a:xfrm>
            <a:off x="9880600" y="2844800"/>
            <a:ext cx="1320800" cy="78996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GitHub, documentos y presentación final.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AD3026FC-253F-5BFC-5FBF-3F8105024208}"/>
              </a:ext>
            </a:extLst>
          </p:cNvPr>
          <p:cNvSpPr txBox="1"/>
          <p:nvPr/>
        </p:nvSpPr>
        <p:spPr>
          <a:xfrm>
            <a:off x="1460500" y="5334000"/>
            <a:ext cx="9271000" cy="2821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s-MX" sz="1500" b="1">
                <a:solidFill>
                  <a:srgbClr val="0B1F34"/>
                </a:solidFill>
                <a:latin typeface="Aptos" panose="020B0004020202020204" pitchFamily="34" charset="0"/>
              </a:rPr>
              <a:t>Normas y enfoques: ISO/IEC 25010, modelo 4+1, MVC, patrón Repositorio y control de versiones con Git.</a:t>
            </a:r>
            <a:endParaRPr lang="es-CL" sz="1500" b="1">
              <a:solidFill>
                <a:srgbClr val="0B1F3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1202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C7015E64-861F-99A8-722A-20B701F9AC28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B1F3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781F49E-6F56-FC5C-040C-35EF6C8F4A17}"/>
              </a:ext>
            </a:extLst>
          </p:cNvPr>
          <p:cNvSpPr/>
          <p:nvPr/>
        </p:nvSpPr>
        <p:spPr>
          <a:xfrm>
            <a:off x="0" y="736600"/>
            <a:ext cx="4318000" cy="508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C0EAB58-07CE-14B9-9163-5055B0A3842A}"/>
              </a:ext>
            </a:extLst>
          </p:cNvPr>
          <p:cNvSpPr txBox="1"/>
          <p:nvPr/>
        </p:nvSpPr>
        <p:spPr>
          <a:xfrm>
            <a:off x="304800" y="190500"/>
            <a:ext cx="8382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CL" sz="1600" b="1">
                <a:solidFill>
                  <a:srgbClr val="FFFFFF"/>
                </a:solidFill>
                <a:latin typeface="Aptos Display" panose="020B0004020202020204" pitchFamily="34" charset="0"/>
              </a:rPr>
              <a:t>PROYECTO “EL MIRADOR”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159095F-4C45-6448-9AEB-2F6710398B11}"/>
              </a:ext>
            </a:extLst>
          </p:cNvPr>
          <p:cNvSpPr txBox="1"/>
          <p:nvPr/>
        </p:nvSpPr>
        <p:spPr>
          <a:xfrm>
            <a:off x="8255000" y="203200"/>
            <a:ext cx="36322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s-CL" sz="1000">
                <a:solidFill>
                  <a:srgbClr val="CBD5E1"/>
                </a:solidFill>
                <a:latin typeface="Aptos" panose="020B0004020202020204" pitchFamily="34" charset="0"/>
              </a:rPr>
              <a:t>RQY1102 · Ingeniería de Software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9EC06AF-FC98-367F-D677-8A6CA602CFC8}"/>
              </a:ext>
            </a:extLst>
          </p:cNvPr>
          <p:cNvSpPr txBox="1"/>
          <p:nvPr/>
        </p:nvSpPr>
        <p:spPr>
          <a:xfrm>
            <a:off x="508000" y="1041400"/>
            <a:ext cx="11176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CL" sz="2700" b="1">
                <a:solidFill>
                  <a:srgbClr val="0B1F34"/>
                </a:solidFill>
                <a:latin typeface="Aptos Display" panose="020B0004020202020204" pitchFamily="34" charset="0"/>
              </a:rPr>
              <a:t>Objetivos, alcance y limitaciones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F7024A0C-3EE7-CC2C-2A46-1B6E252881BF}"/>
              </a:ext>
            </a:extLst>
          </p:cNvPr>
          <p:cNvSpPr/>
          <p:nvPr/>
        </p:nvSpPr>
        <p:spPr>
          <a:xfrm>
            <a:off x="800100" y="1955800"/>
            <a:ext cx="3429000" cy="31750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5DB9EB61-6612-6CD6-6C97-7765AFC830D1}"/>
              </a:ext>
            </a:extLst>
          </p:cNvPr>
          <p:cNvSpPr/>
          <p:nvPr/>
        </p:nvSpPr>
        <p:spPr>
          <a:xfrm>
            <a:off x="762000" y="1905000"/>
            <a:ext cx="3429000" cy="3175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1410488-75B0-9E6F-3694-C15609FD7ECD}"/>
              </a:ext>
            </a:extLst>
          </p:cNvPr>
          <p:cNvSpPr/>
          <p:nvPr/>
        </p:nvSpPr>
        <p:spPr>
          <a:xfrm>
            <a:off x="762000" y="1905000"/>
            <a:ext cx="3429000" cy="76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ADB3683-2352-FF50-037C-B002704E2667}"/>
              </a:ext>
            </a:extLst>
          </p:cNvPr>
          <p:cNvSpPr txBox="1"/>
          <p:nvPr/>
        </p:nvSpPr>
        <p:spPr>
          <a:xfrm>
            <a:off x="990600" y="2133600"/>
            <a:ext cx="2971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Objetivos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4688E138-E1CD-6FBC-5B5E-03453611F35A}"/>
              </a:ext>
            </a:extLst>
          </p:cNvPr>
          <p:cNvSpPr txBox="1"/>
          <p:nvPr/>
        </p:nvSpPr>
        <p:spPr>
          <a:xfrm>
            <a:off x="990600" y="2590800"/>
            <a:ext cx="2971800" cy="97462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Automatizar gestión de gastos comunes.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Reducir morosidad.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Mejorar transparencia financiera.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Facilitar comunicación entre administración y residentes.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47A26F12-476C-588B-9739-8B5DF1CC5E1C}"/>
              </a:ext>
            </a:extLst>
          </p:cNvPr>
          <p:cNvSpPr/>
          <p:nvPr/>
        </p:nvSpPr>
        <p:spPr>
          <a:xfrm>
            <a:off x="4419600" y="1955800"/>
            <a:ext cx="3429000" cy="31750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8F5BF5DA-F8CB-31ED-5ADE-3E71A9D08849}"/>
              </a:ext>
            </a:extLst>
          </p:cNvPr>
          <p:cNvSpPr/>
          <p:nvPr/>
        </p:nvSpPr>
        <p:spPr>
          <a:xfrm>
            <a:off x="4381500" y="1905000"/>
            <a:ext cx="3429000" cy="3175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B121703-C791-C6BE-62D4-0868698087C3}"/>
              </a:ext>
            </a:extLst>
          </p:cNvPr>
          <p:cNvSpPr/>
          <p:nvPr/>
        </p:nvSpPr>
        <p:spPr>
          <a:xfrm>
            <a:off x="4381500" y="1905000"/>
            <a:ext cx="3429000" cy="76200"/>
          </a:xfrm>
          <a:prstGeom prst="rect">
            <a:avLst/>
          </a:prstGeom>
          <a:solidFill>
            <a:srgbClr val="22C5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7016AD1-4623-43C7-9702-1D7505EC9CF1}"/>
              </a:ext>
            </a:extLst>
          </p:cNvPr>
          <p:cNvSpPr txBox="1"/>
          <p:nvPr/>
        </p:nvSpPr>
        <p:spPr>
          <a:xfrm>
            <a:off x="4610100" y="2133600"/>
            <a:ext cx="2971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Alcance del prototipo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3ABD057B-FE63-3F23-57D5-ECA4296F2751}"/>
              </a:ext>
            </a:extLst>
          </p:cNvPr>
          <p:cNvSpPr txBox="1"/>
          <p:nvPr/>
        </p:nvSpPr>
        <p:spPr>
          <a:xfrm>
            <a:off x="4610100" y="2590800"/>
            <a:ext cx="2971800" cy="78996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Login por rol.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Residentes y departamentos.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Gastos, pagos, recibos y morosos.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Reclamos, avisos, mensajes e informes.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9AB492AB-A763-75A4-2C3D-DE718ACDF9FE}"/>
              </a:ext>
            </a:extLst>
          </p:cNvPr>
          <p:cNvSpPr/>
          <p:nvPr/>
        </p:nvSpPr>
        <p:spPr>
          <a:xfrm>
            <a:off x="8039100" y="1955800"/>
            <a:ext cx="3429000" cy="31750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5BB93680-2329-5DCF-CCDF-341DA8A1C919}"/>
              </a:ext>
            </a:extLst>
          </p:cNvPr>
          <p:cNvSpPr/>
          <p:nvPr/>
        </p:nvSpPr>
        <p:spPr>
          <a:xfrm>
            <a:off x="8001000" y="1905000"/>
            <a:ext cx="3429000" cy="3175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81A85348-AFF6-7CAF-93F6-11EC1835AD3E}"/>
              </a:ext>
            </a:extLst>
          </p:cNvPr>
          <p:cNvSpPr/>
          <p:nvPr/>
        </p:nvSpPr>
        <p:spPr>
          <a:xfrm>
            <a:off x="8001000" y="1905000"/>
            <a:ext cx="3429000" cy="76200"/>
          </a:xfrm>
          <a:prstGeom prst="rect">
            <a:avLst/>
          </a:prstGeom>
          <a:solidFill>
            <a:srgbClr val="F59E0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577A9DF1-2CD2-904B-67C9-967E91E25975}"/>
              </a:ext>
            </a:extLst>
          </p:cNvPr>
          <p:cNvSpPr txBox="1"/>
          <p:nvPr/>
        </p:nvSpPr>
        <p:spPr>
          <a:xfrm>
            <a:off x="8229600" y="2133600"/>
            <a:ext cx="2971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Limitaciones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784F5A77-785E-090D-8D2B-51A62F423954}"/>
              </a:ext>
            </a:extLst>
          </p:cNvPr>
          <p:cNvSpPr txBox="1"/>
          <p:nvPr/>
        </p:nvSpPr>
        <p:spPr>
          <a:xfrm>
            <a:off x="8229600" y="2590800"/>
            <a:ext cx="2971800" cy="97462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Datos simulados.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Sin pasarela real de pago.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Sin backend productivo.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Reportes y recibos demostrativos para evaluación.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66445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4BBC98F-A5DE-8AA6-2ED9-DD0EB60539FE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B1F3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9B6197B-3FDA-AC64-DFFF-6EF74054094E}"/>
              </a:ext>
            </a:extLst>
          </p:cNvPr>
          <p:cNvSpPr/>
          <p:nvPr/>
        </p:nvSpPr>
        <p:spPr>
          <a:xfrm>
            <a:off x="0" y="736600"/>
            <a:ext cx="4318000" cy="508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94A6CE0-B884-4661-2E01-7B04E1E1C538}"/>
              </a:ext>
            </a:extLst>
          </p:cNvPr>
          <p:cNvSpPr txBox="1"/>
          <p:nvPr/>
        </p:nvSpPr>
        <p:spPr>
          <a:xfrm>
            <a:off x="304800" y="190500"/>
            <a:ext cx="8382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CL" sz="1600" b="1">
                <a:solidFill>
                  <a:srgbClr val="FFFFFF"/>
                </a:solidFill>
                <a:latin typeface="Aptos Display" panose="020B0004020202020204" pitchFamily="34" charset="0"/>
              </a:rPr>
              <a:t>PROYECTO “EL MIRADOR”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52E9623-4BB5-B4C5-9AAA-C9CCD5DDC1B1}"/>
              </a:ext>
            </a:extLst>
          </p:cNvPr>
          <p:cNvSpPr txBox="1"/>
          <p:nvPr/>
        </p:nvSpPr>
        <p:spPr>
          <a:xfrm>
            <a:off x="8255000" y="203200"/>
            <a:ext cx="36322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s-CL" sz="1000">
                <a:solidFill>
                  <a:srgbClr val="CBD5E1"/>
                </a:solidFill>
                <a:latin typeface="Aptos" panose="020B0004020202020204" pitchFamily="34" charset="0"/>
              </a:rPr>
              <a:t>RQY1102 · Ingeniería de Software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8CCAB6D-D1E0-E558-F8A3-B14B03097D11}"/>
              </a:ext>
            </a:extLst>
          </p:cNvPr>
          <p:cNvSpPr txBox="1"/>
          <p:nvPr/>
        </p:nvSpPr>
        <p:spPr>
          <a:xfrm>
            <a:off x="508000" y="1041400"/>
            <a:ext cx="11176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2700" b="1">
                <a:solidFill>
                  <a:srgbClr val="0B1F34"/>
                </a:solidFill>
                <a:latin typeface="Aptos Display" panose="020B0004020202020204" pitchFamily="34" charset="0"/>
              </a:rPr>
              <a:t>Estrategias de gestión del proyecto</a:t>
            </a:r>
            <a:endParaRPr lang="es-CL" sz="2700" b="1">
              <a:solidFill>
                <a:srgbClr val="0B1F34"/>
              </a:solidFill>
              <a:latin typeface="Aptos Display" panose="020B0004020202020204" pitchFamily="34" charset="0"/>
            </a:endParaRP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C157505B-862B-5339-8AC8-F8B260D8F92B}"/>
              </a:ext>
            </a:extLst>
          </p:cNvPr>
          <p:cNvSpPr/>
          <p:nvPr/>
        </p:nvSpPr>
        <p:spPr>
          <a:xfrm>
            <a:off x="990600" y="2019300"/>
            <a:ext cx="4826000" cy="31115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6A1F29E3-CC35-A764-A59C-ECA815260FC9}"/>
              </a:ext>
            </a:extLst>
          </p:cNvPr>
          <p:cNvSpPr/>
          <p:nvPr/>
        </p:nvSpPr>
        <p:spPr>
          <a:xfrm>
            <a:off x="952500" y="1968500"/>
            <a:ext cx="4826000" cy="3111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5C70255B-8A5F-DB3B-7FD1-45EB5E10B4AC}"/>
              </a:ext>
            </a:extLst>
          </p:cNvPr>
          <p:cNvSpPr/>
          <p:nvPr/>
        </p:nvSpPr>
        <p:spPr>
          <a:xfrm>
            <a:off x="952500" y="1968500"/>
            <a:ext cx="4826000" cy="76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4125246-2B1B-5ED1-4738-8847BE9AE02C}"/>
              </a:ext>
            </a:extLst>
          </p:cNvPr>
          <p:cNvSpPr txBox="1"/>
          <p:nvPr/>
        </p:nvSpPr>
        <p:spPr>
          <a:xfrm>
            <a:off x="1181100" y="2197100"/>
            <a:ext cx="4368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Planificación y control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F2795CE-E05F-02CA-E806-6BA5E04A03AF}"/>
              </a:ext>
            </a:extLst>
          </p:cNvPr>
          <p:cNvSpPr txBox="1"/>
          <p:nvPr/>
        </p:nvSpPr>
        <p:spPr>
          <a:xfrm>
            <a:off x="1181100" y="2654300"/>
            <a:ext cx="4368800" cy="78996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Carta Gantt por fases y semanas.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División de módulos por prioridad.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Entregables numerados según rúbrica.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Revisión final de documentos y prototipo.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5A2C3542-1A10-2815-CD16-832090D78204}"/>
              </a:ext>
            </a:extLst>
          </p:cNvPr>
          <p:cNvSpPr/>
          <p:nvPr/>
        </p:nvSpPr>
        <p:spPr>
          <a:xfrm>
            <a:off x="6451600" y="2019300"/>
            <a:ext cx="4826000" cy="31115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5575AF8D-72FB-B894-ABF4-A8AE56FF7C44}"/>
              </a:ext>
            </a:extLst>
          </p:cNvPr>
          <p:cNvSpPr/>
          <p:nvPr/>
        </p:nvSpPr>
        <p:spPr>
          <a:xfrm>
            <a:off x="6413500" y="1968500"/>
            <a:ext cx="4826000" cy="3111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4AA0607-7491-7720-CBD1-C87A769FCBDD}"/>
              </a:ext>
            </a:extLst>
          </p:cNvPr>
          <p:cNvSpPr/>
          <p:nvPr/>
        </p:nvSpPr>
        <p:spPr>
          <a:xfrm>
            <a:off x="6413500" y="1968500"/>
            <a:ext cx="4826000" cy="762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D946DCAF-F837-A3B8-12B8-534505B91AFF}"/>
              </a:ext>
            </a:extLst>
          </p:cNvPr>
          <p:cNvSpPr txBox="1"/>
          <p:nvPr/>
        </p:nvSpPr>
        <p:spPr>
          <a:xfrm>
            <a:off x="6642100" y="2197100"/>
            <a:ext cx="4368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Gestión de cambios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30C6E910-FC31-B9AF-5AE6-9BE4A8CA52AB}"/>
              </a:ext>
            </a:extLst>
          </p:cNvPr>
          <p:cNvSpPr txBox="1"/>
          <p:nvPr/>
        </p:nvSpPr>
        <p:spPr>
          <a:xfrm>
            <a:off x="6642100" y="2654300"/>
            <a:ext cx="4368800" cy="78996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Historial de versiones desde v1.0.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Commits descriptivos en GitHub.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Acciones de mejora registradas.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Correcciones al prototipo antes de la entrega.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971ACCAE-4E13-096D-D581-3920FCEC3E74}"/>
              </a:ext>
            </a:extLst>
          </p:cNvPr>
          <p:cNvSpPr txBox="1"/>
          <p:nvPr/>
        </p:nvSpPr>
        <p:spPr>
          <a:xfrm>
            <a:off x="1651000" y="5461000"/>
            <a:ext cx="8890000" cy="26674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s-MX" sz="1400" b="1">
                <a:solidFill>
                  <a:srgbClr val="0B1F34"/>
                </a:solidFill>
                <a:latin typeface="Aptos" panose="020B0004020202020204" pitchFamily="34" charset="0"/>
              </a:rPr>
              <a:t>La carpeta final replica la estructura solicitada: documentos, diagramas, evidencias y prototipo ejecutable.</a:t>
            </a:r>
            <a:endParaRPr lang="es-CL" sz="1400" b="1">
              <a:solidFill>
                <a:srgbClr val="0B1F3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5675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E6335AFF-0E71-5ADB-75DF-38A61E273B21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B1F3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3DF5286-B2B8-3CCA-13AC-2A2B1C9B0C92}"/>
              </a:ext>
            </a:extLst>
          </p:cNvPr>
          <p:cNvSpPr/>
          <p:nvPr/>
        </p:nvSpPr>
        <p:spPr>
          <a:xfrm>
            <a:off x="0" y="736600"/>
            <a:ext cx="4318000" cy="508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FB75C17-6A5E-2D1D-47C3-79239FF47375}"/>
              </a:ext>
            </a:extLst>
          </p:cNvPr>
          <p:cNvSpPr txBox="1"/>
          <p:nvPr/>
        </p:nvSpPr>
        <p:spPr>
          <a:xfrm>
            <a:off x="304800" y="190500"/>
            <a:ext cx="8382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CL" sz="1600" b="1">
                <a:solidFill>
                  <a:srgbClr val="FFFFFF"/>
                </a:solidFill>
                <a:latin typeface="Aptos Display" panose="020B0004020202020204" pitchFamily="34" charset="0"/>
              </a:rPr>
              <a:t>PROYECTO “EL MIRADOR”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6B63C5AF-B29F-2256-C356-620ED6676D34}"/>
              </a:ext>
            </a:extLst>
          </p:cNvPr>
          <p:cNvSpPr txBox="1"/>
          <p:nvPr/>
        </p:nvSpPr>
        <p:spPr>
          <a:xfrm>
            <a:off x="8255000" y="203200"/>
            <a:ext cx="36322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s-CL" sz="1000">
                <a:solidFill>
                  <a:srgbClr val="CBD5E1"/>
                </a:solidFill>
                <a:latin typeface="Aptos" panose="020B0004020202020204" pitchFamily="34" charset="0"/>
              </a:rPr>
              <a:t>RQY1102 · Ingeniería de Software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8772EF4-6DE5-C67A-2639-7E8F8BCD28BC}"/>
              </a:ext>
            </a:extLst>
          </p:cNvPr>
          <p:cNvSpPr txBox="1"/>
          <p:nvPr/>
        </p:nvSpPr>
        <p:spPr>
          <a:xfrm>
            <a:off x="508000" y="1041400"/>
            <a:ext cx="11176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2700" b="1">
                <a:solidFill>
                  <a:srgbClr val="0B1F34"/>
                </a:solidFill>
                <a:latin typeface="Aptos Display" panose="020B0004020202020204" pitchFamily="34" charset="0"/>
              </a:rPr>
              <a:t>Planificación del proyecto: EDT + Carta Gantt</a:t>
            </a:r>
            <a:endParaRPr lang="es-CL" sz="2700" b="1">
              <a:solidFill>
                <a:srgbClr val="0B1F34"/>
              </a:solidFill>
              <a:latin typeface="Aptos Display" panose="020B0004020202020204" pitchFamily="34" charset="0"/>
            </a:endParaRP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52899E5-468C-D7E0-B957-A97B9CA2A6F8}"/>
              </a:ext>
            </a:extLst>
          </p:cNvPr>
          <p:cNvSpPr/>
          <p:nvPr/>
        </p:nvSpPr>
        <p:spPr>
          <a:xfrm>
            <a:off x="673100" y="1892300"/>
            <a:ext cx="2540000" cy="29845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1B000CF2-4E8D-CB32-A979-BFB90B6E0A40}"/>
              </a:ext>
            </a:extLst>
          </p:cNvPr>
          <p:cNvSpPr/>
          <p:nvPr/>
        </p:nvSpPr>
        <p:spPr>
          <a:xfrm>
            <a:off x="635000" y="1841500"/>
            <a:ext cx="2540000" cy="2984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24B0B2B-FB83-163A-0B91-DBF2FA918E25}"/>
              </a:ext>
            </a:extLst>
          </p:cNvPr>
          <p:cNvSpPr/>
          <p:nvPr/>
        </p:nvSpPr>
        <p:spPr>
          <a:xfrm>
            <a:off x="635000" y="1841500"/>
            <a:ext cx="2540000" cy="76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BF1EBBF-79DA-C21B-66F0-724E7F219DB6}"/>
              </a:ext>
            </a:extLst>
          </p:cNvPr>
          <p:cNvSpPr txBox="1"/>
          <p:nvPr/>
        </p:nvSpPr>
        <p:spPr>
          <a:xfrm>
            <a:off x="863600" y="2070100"/>
            <a:ext cx="2082800" cy="54373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Fase 1`rPlanificación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B6CC3C1-E13A-3645-5359-AAF37CB41CF2}"/>
              </a:ext>
            </a:extLst>
          </p:cNvPr>
          <p:cNvSpPr txBox="1"/>
          <p:nvPr/>
        </p:nvSpPr>
        <p:spPr>
          <a:xfrm>
            <a:off x="863600" y="2527300"/>
            <a:ext cx="2082800" cy="78996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Levantamiento del caso, definición de alcance, actores, requisitos y riesgos iniciales.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D059400F-7CD1-0123-F2BF-6ADA2FDFB5C1}"/>
              </a:ext>
            </a:extLst>
          </p:cNvPr>
          <p:cNvSpPr/>
          <p:nvPr/>
        </p:nvSpPr>
        <p:spPr>
          <a:xfrm>
            <a:off x="3530600" y="1892300"/>
            <a:ext cx="2540000" cy="29845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A47DE8CB-8C2B-708B-BB16-572C5CF2A399}"/>
              </a:ext>
            </a:extLst>
          </p:cNvPr>
          <p:cNvSpPr/>
          <p:nvPr/>
        </p:nvSpPr>
        <p:spPr>
          <a:xfrm>
            <a:off x="3492500" y="1841500"/>
            <a:ext cx="2540000" cy="2984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23FC662A-1FAE-5E68-28CE-D8B1573C498D}"/>
              </a:ext>
            </a:extLst>
          </p:cNvPr>
          <p:cNvSpPr/>
          <p:nvPr/>
        </p:nvSpPr>
        <p:spPr>
          <a:xfrm>
            <a:off x="3492500" y="1841500"/>
            <a:ext cx="2540000" cy="762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24BFBB9-7393-F112-AF2A-55656F2B7668}"/>
              </a:ext>
            </a:extLst>
          </p:cNvPr>
          <p:cNvSpPr txBox="1"/>
          <p:nvPr/>
        </p:nvSpPr>
        <p:spPr>
          <a:xfrm>
            <a:off x="3721100" y="2070100"/>
            <a:ext cx="2082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Fase 2`rDiseño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D1F73822-F889-9D96-901F-5E3604485832}"/>
              </a:ext>
            </a:extLst>
          </p:cNvPr>
          <p:cNvSpPr txBox="1"/>
          <p:nvPr/>
        </p:nvSpPr>
        <p:spPr>
          <a:xfrm>
            <a:off x="3721100" y="2527300"/>
            <a:ext cx="2082800" cy="78996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DAS, arquitectura 4+1, diagramas UML, estructura de módulos y diseño del prototipo.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9C3871F5-87AF-C807-447D-3FAF7F6D267B}"/>
              </a:ext>
            </a:extLst>
          </p:cNvPr>
          <p:cNvSpPr/>
          <p:nvPr/>
        </p:nvSpPr>
        <p:spPr>
          <a:xfrm>
            <a:off x="6388100" y="1892300"/>
            <a:ext cx="2540000" cy="29845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A377EF68-2673-8FDB-D123-08B75948A829}"/>
              </a:ext>
            </a:extLst>
          </p:cNvPr>
          <p:cNvSpPr/>
          <p:nvPr/>
        </p:nvSpPr>
        <p:spPr>
          <a:xfrm>
            <a:off x="6350000" y="1841500"/>
            <a:ext cx="2540000" cy="2984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23C670FE-0735-6612-1BA3-B90CF837CE34}"/>
              </a:ext>
            </a:extLst>
          </p:cNvPr>
          <p:cNvSpPr/>
          <p:nvPr/>
        </p:nvSpPr>
        <p:spPr>
          <a:xfrm>
            <a:off x="6350000" y="1841500"/>
            <a:ext cx="2540000" cy="76200"/>
          </a:xfrm>
          <a:prstGeom prst="rect">
            <a:avLst/>
          </a:prstGeom>
          <a:solidFill>
            <a:srgbClr val="22C5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134AE7F7-996E-38C3-C02E-51453A5279B0}"/>
              </a:ext>
            </a:extLst>
          </p:cNvPr>
          <p:cNvSpPr txBox="1"/>
          <p:nvPr/>
        </p:nvSpPr>
        <p:spPr>
          <a:xfrm>
            <a:off x="6578600" y="2070100"/>
            <a:ext cx="2082800" cy="54373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Fase 3`rConstrucción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E7AFBEA-F6E4-1194-AE1F-C6D0B11DF1FC}"/>
              </a:ext>
            </a:extLst>
          </p:cNvPr>
          <p:cNvSpPr txBox="1"/>
          <p:nvPr/>
        </p:nvSpPr>
        <p:spPr>
          <a:xfrm>
            <a:off x="6578600" y="2527300"/>
            <a:ext cx="2082800" cy="78996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Implementación de pantallas, navegación por rol, datos simulados y funcionalidades clave.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22" name="Rectángulo: esquinas redondeadas 21">
            <a:extLst>
              <a:ext uri="{FF2B5EF4-FFF2-40B4-BE49-F238E27FC236}">
                <a16:creationId xmlns:a16="http://schemas.microsoft.com/office/drawing/2014/main" id="{FC0509E8-DB7A-D2F8-DD80-F83B157D8488}"/>
              </a:ext>
            </a:extLst>
          </p:cNvPr>
          <p:cNvSpPr/>
          <p:nvPr/>
        </p:nvSpPr>
        <p:spPr>
          <a:xfrm>
            <a:off x="9245600" y="1892300"/>
            <a:ext cx="2349500" cy="29845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AFF7CD8F-06B2-1460-D19B-A77E5D423D88}"/>
              </a:ext>
            </a:extLst>
          </p:cNvPr>
          <p:cNvSpPr/>
          <p:nvPr/>
        </p:nvSpPr>
        <p:spPr>
          <a:xfrm>
            <a:off x="9207500" y="1841500"/>
            <a:ext cx="2349500" cy="2984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B475399D-BE0F-9EF8-7900-BA24E3D19F87}"/>
              </a:ext>
            </a:extLst>
          </p:cNvPr>
          <p:cNvSpPr/>
          <p:nvPr/>
        </p:nvSpPr>
        <p:spPr>
          <a:xfrm>
            <a:off x="9207500" y="1841500"/>
            <a:ext cx="2349500" cy="76200"/>
          </a:xfrm>
          <a:prstGeom prst="rect">
            <a:avLst/>
          </a:prstGeom>
          <a:solidFill>
            <a:srgbClr val="F59E0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C20627A2-0C64-88CE-CA4E-41A3514FA024}"/>
              </a:ext>
            </a:extLst>
          </p:cNvPr>
          <p:cNvSpPr txBox="1"/>
          <p:nvPr/>
        </p:nvSpPr>
        <p:spPr>
          <a:xfrm>
            <a:off x="9436100" y="2070100"/>
            <a:ext cx="18923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Fase 4`rValidación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30C4717A-93C8-BD54-B9A8-1C7A1143356F}"/>
              </a:ext>
            </a:extLst>
          </p:cNvPr>
          <p:cNvSpPr txBox="1"/>
          <p:nvPr/>
        </p:nvSpPr>
        <p:spPr>
          <a:xfrm>
            <a:off x="9436100" y="2527300"/>
            <a:ext cx="1892300" cy="60529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Plan de pruebas, casos con evidencias, control de versiones y entrega final.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7245E9-DA4E-C29E-FABB-11C50D284A76}"/>
              </a:ext>
            </a:extLst>
          </p:cNvPr>
          <p:cNvSpPr txBox="1"/>
          <p:nvPr/>
        </p:nvSpPr>
        <p:spPr>
          <a:xfrm>
            <a:off x="1143000" y="5334000"/>
            <a:ext cx="99060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s-MX" sz="1600" b="1">
                <a:solidFill>
                  <a:srgbClr val="0B1F34"/>
                </a:solidFill>
                <a:latin typeface="Aptos" panose="020B0004020202020204" pitchFamily="34" charset="0"/>
              </a:rPr>
              <a:t>Artefacto asociado: Carta_Gantt_El_Mirador.xlsx</a:t>
            </a:r>
            <a:endParaRPr lang="es-CL" sz="1600" b="1">
              <a:solidFill>
                <a:srgbClr val="0B1F3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4065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C2ADB764-DFB4-0965-2385-B20D3B7E4044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B1F3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C0DD955-FEB8-23CA-596E-E3CABD23F1A5}"/>
              </a:ext>
            </a:extLst>
          </p:cNvPr>
          <p:cNvSpPr/>
          <p:nvPr/>
        </p:nvSpPr>
        <p:spPr>
          <a:xfrm>
            <a:off x="0" y="736600"/>
            <a:ext cx="4318000" cy="508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1A0C362-B23A-57CC-62BD-61783221014C}"/>
              </a:ext>
            </a:extLst>
          </p:cNvPr>
          <p:cNvSpPr txBox="1"/>
          <p:nvPr/>
        </p:nvSpPr>
        <p:spPr>
          <a:xfrm>
            <a:off x="304800" y="190500"/>
            <a:ext cx="8382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CL" sz="1600" b="1">
                <a:solidFill>
                  <a:srgbClr val="FFFFFF"/>
                </a:solidFill>
                <a:latin typeface="Aptos Display" panose="020B0004020202020204" pitchFamily="34" charset="0"/>
              </a:rPr>
              <a:t>PROYECTO “EL MIRADOR”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54D0583-BBB2-70F3-01D0-B8A191D7CE55}"/>
              </a:ext>
            </a:extLst>
          </p:cNvPr>
          <p:cNvSpPr txBox="1"/>
          <p:nvPr/>
        </p:nvSpPr>
        <p:spPr>
          <a:xfrm>
            <a:off x="8255000" y="203200"/>
            <a:ext cx="36322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s-CL" sz="1000">
                <a:solidFill>
                  <a:srgbClr val="CBD5E1"/>
                </a:solidFill>
                <a:latin typeface="Aptos" panose="020B0004020202020204" pitchFamily="34" charset="0"/>
              </a:rPr>
              <a:t>RQY1102 · Ingeniería de Software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CDB4C28-3C80-D96D-7F08-570BC4E52E4F}"/>
              </a:ext>
            </a:extLst>
          </p:cNvPr>
          <p:cNvSpPr txBox="1"/>
          <p:nvPr/>
        </p:nvSpPr>
        <p:spPr>
          <a:xfrm>
            <a:off x="508000" y="1041400"/>
            <a:ext cx="11176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BR" sz="2700" b="1">
                <a:solidFill>
                  <a:srgbClr val="0B1F34"/>
                </a:solidFill>
                <a:latin typeface="Aptos Display" panose="020B0004020202020204" pitchFamily="34" charset="0"/>
              </a:rPr>
              <a:t>Arquitectura de software: modelo 4+1</a:t>
            </a:r>
            <a:endParaRPr lang="es-CL" sz="2700" b="1">
              <a:solidFill>
                <a:srgbClr val="0B1F34"/>
              </a:solidFill>
              <a:latin typeface="Aptos Display" panose="020B0004020202020204" pitchFamily="34" charset="0"/>
            </a:endParaRP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6F3583DE-9E29-1208-7A70-593A8E714E85}"/>
              </a:ext>
            </a:extLst>
          </p:cNvPr>
          <p:cNvSpPr/>
          <p:nvPr/>
        </p:nvSpPr>
        <p:spPr>
          <a:xfrm>
            <a:off x="736600" y="1892300"/>
            <a:ext cx="3238500" cy="32385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346957BD-E4D2-9736-08DB-E61D1F594824}"/>
              </a:ext>
            </a:extLst>
          </p:cNvPr>
          <p:cNvSpPr/>
          <p:nvPr/>
        </p:nvSpPr>
        <p:spPr>
          <a:xfrm>
            <a:off x="698500" y="1841500"/>
            <a:ext cx="3238500" cy="3238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D43EA1A4-C430-E235-91D8-8216AF034697}"/>
              </a:ext>
            </a:extLst>
          </p:cNvPr>
          <p:cNvSpPr/>
          <p:nvPr/>
        </p:nvSpPr>
        <p:spPr>
          <a:xfrm>
            <a:off x="698500" y="1841500"/>
            <a:ext cx="3238500" cy="76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FE696CC-8078-7FB5-D0E3-FDC8A0FCFD92}"/>
              </a:ext>
            </a:extLst>
          </p:cNvPr>
          <p:cNvSpPr txBox="1"/>
          <p:nvPr/>
        </p:nvSpPr>
        <p:spPr>
          <a:xfrm>
            <a:off x="927100" y="2070100"/>
            <a:ext cx="27813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Vistas documentadas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BF7FCEAE-6F1D-FD81-C62C-E5341679B0C2}"/>
              </a:ext>
            </a:extLst>
          </p:cNvPr>
          <p:cNvSpPr txBox="1"/>
          <p:nvPr/>
        </p:nvSpPr>
        <p:spPr>
          <a:xfrm>
            <a:off x="927100" y="2527300"/>
            <a:ext cx="2781300" cy="97462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Escenario: casos de uso.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Lógica: clases.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Desarrollo: componentes y paquetes.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Proceso: actividad de pago.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Física: despliegue.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6F5E4F9F-073A-9F4C-2A6E-2F1CEE7E3E6F}"/>
              </a:ext>
            </a:extLst>
          </p:cNvPr>
          <p:cNvSpPr/>
          <p:nvPr/>
        </p:nvSpPr>
        <p:spPr>
          <a:xfrm>
            <a:off x="4508500" y="1892300"/>
            <a:ext cx="3238500" cy="32385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6F75CD79-6CFC-7BC6-3835-573280D9B743}"/>
              </a:ext>
            </a:extLst>
          </p:cNvPr>
          <p:cNvSpPr/>
          <p:nvPr/>
        </p:nvSpPr>
        <p:spPr>
          <a:xfrm>
            <a:off x="4470400" y="1841500"/>
            <a:ext cx="3238500" cy="3238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A1ED7C33-729E-2B40-C5DD-5C28B5663D6A}"/>
              </a:ext>
            </a:extLst>
          </p:cNvPr>
          <p:cNvSpPr/>
          <p:nvPr/>
        </p:nvSpPr>
        <p:spPr>
          <a:xfrm>
            <a:off x="4470400" y="1841500"/>
            <a:ext cx="3238500" cy="762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D3C5E633-B221-9CA3-D5AC-0ADBF4F94BCF}"/>
              </a:ext>
            </a:extLst>
          </p:cNvPr>
          <p:cNvSpPr txBox="1"/>
          <p:nvPr/>
        </p:nvSpPr>
        <p:spPr>
          <a:xfrm>
            <a:off x="4699000" y="2070100"/>
            <a:ext cx="27813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Decisiones técnicas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48E3B68-2B0E-31BA-1629-0D681AE4E4A0}"/>
              </a:ext>
            </a:extLst>
          </p:cNvPr>
          <p:cNvSpPr txBox="1"/>
          <p:nvPr/>
        </p:nvSpPr>
        <p:spPr>
          <a:xfrm>
            <a:off x="4699000" y="2527300"/>
            <a:ext cx="2781300" cy="115929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Monolítico por capas.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MVC para separación de responsabilidades.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Repositorio para acceso a datos.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API REST proyectada.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Base de datos PostgreSQL.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6BAE9761-195D-B572-E0AE-BB0A9B0EE72D}"/>
              </a:ext>
            </a:extLst>
          </p:cNvPr>
          <p:cNvSpPr/>
          <p:nvPr/>
        </p:nvSpPr>
        <p:spPr>
          <a:xfrm>
            <a:off x="8293100" y="1892300"/>
            <a:ext cx="3238500" cy="32385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83745BA3-47F1-2D9E-D2A4-B7EB2A9E0324}"/>
              </a:ext>
            </a:extLst>
          </p:cNvPr>
          <p:cNvSpPr/>
          <p:nvPr/>
        </p:nvSpPr>
        <p:spPr>
          <a:xfrm>
            <a:off x="8255000" y="1841500"/>
            <a:ext cx="3238500" cy="3238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F4C7729A-295C-19EB-6BDB-E57A26A4164A}"/>
              </a:ext>
            </a:extLst>
          </p:cNvPr>
          <p:cNvSpPr/>
          <p:nvPr/>
        </p:nvSpPr>
        <p:spPr>
          <a:xfrm>
            <a:off x="8255000" y="1841500"/>
            <a:ext cx="3238500" cy="76200"/>
          </a:xfrm>
          <a:prstGeom prst="rect">
            <a:avLst/>
          </a:prstGeom>
          <a:solidFill>
            <a:srgbClr val="22C5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465D4ECB-5986-62D8-A432-903B30894CE1}"/>
              </a:ext>
            </a:extLst>
          </p:cNvPr>
          <p:cNvSpPr txBox="1"/>
          <p:nvPr/>
        </p:nvSpPr>
        <p:spPr>
          <a:xfrm>
            <a:off x="8483600" y="2070100"/>
            <a:ext cx="27813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Evidencia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82D67D5-FF6B-57D5-4A97-E1E923EB4887}"/>
              </a:ext>
            </a:extLst>
          </p:cNvPr>
          <p:cNvSpPr txBox="1"/>
          <p:nvPr/>
        </p:nvSpPr>
        <p:spPr>
          <a:xfrm>
            <a:off x="8483600" y="2527300"/>
            <a:ext cx="2781300" cy="60529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Carpeta Diagrama 4+1: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casos de uso, clases, componentes, actividad, despliegue y paquetes.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53903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F2BC1CBB-98DB-9547-239C-33CFE5F6D93C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B1F3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7C494A0-8DB0-881C-AA8A-97C92FCA27E5}"/>
              </a:ext>
            </a:extLst>
          </p:cNvPr>
          <p:cNvSpPr/>
          <p:nvPr/>
        </p:nvSpPr>
        <p:spPr>
          <a:xfrm>
            <a:off x="0" y="736600"/>
            <a:ext cx="4318000" cy="508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86D55AC-79D2-F8C9-6B70-7A5DA1D0D528}"/>
              </a:ext>
            </a:extLst>
          </p:cNvPr>
          <p:cNvSpPr txBox="1"/>
          <p:nvPr/>
        </p:nvSpPr>
        <p:spPr>
          <a:xfrm>
            <a:off x="304800" y="190500"/>
            <a:ext cx="8382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CL" sz="1600" b="1">
                <a:solidFill>
                  <a:srgbClr val="FFFFFF"/>
                </a:solidFill>
                <a:latin typeface="Aptos Display" panose="020B0004020202020204" pitchFamily="34" charset="0"/>
              </a:rPr>
              <a:t>PROYECTO “EL MIRADOR”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DD84C33-2406-ADCB-7C3E-0FF4734283A5}"/>
              </a:ext>
            </a:extLst>
          </p:cNvPr>
          <p:cNvSpPr txBox="1"/>
          <p:nvPr/>
        </p:nvSpPr>
        <p:spPr>
          <a:xfrm>
            <a:off x="8255000" y="203200"/>
            <a:ext cx="36322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s-CL" sz="1000">
                <a:solidFill>
                  <a:srgbClr val="CBD5E1"/>
                </a:solidFill>
                <a:latin typeface="Aptos" panose="020B0004020202020204" pitchFamily="34" charset="0"/>
              </a:rPr>
              <a:t>RQY1102 · Ingeniería de Software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254FF07-463D-AF8D-606B-0465C6317EF2}"/>
              </a:ext>
            </a:extLst>
          </p:cNvPr>
          <p:cNvSpPr txBox="1"/>
          <p:nvPr/>
        </p:nvSpPr>
        <p:spPr>
          <a:xfrm>
            <a:off x="508000" y="1041400"/>
            <a:ext cx="11176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2700" b="1">
                <a:solidFill>
                  <a:srgbClr val="0B1F34"/>
                </a:solidFill>
                <a:latin typeface="Aptos Display" panose="020B0004020202020204" pitchFamily="34" charset="0"/>
              </a:rPr>
              <a:t>Requisitos funcionales y no funcionales</a:t>
            </a:r>
            <a:endParaRPr lang="es-CL" sz="2700" b="1">
              <a:solidFill>
                <a:srgbClr val="0B1F34"/>
              </a:solidFill>
              <a:latin typeface="Aptos Display" panose="020B0004020202020204" pitchFamily="34" charset="0"/>
            </a:endParaRP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B7A7000-A3EA-9F3B-DEF9-7FEAFA19C0D4}"/>
              </a:ext>
            </a:extLst>
          </p:cNvPr>
          <p:cNvSpPr/>
          <p:nvPr/>
        </p:nvSpPr>
        <p:spPr>
          <a:xfrm>
            <a:off x="800100" y="1955800"/>
            <a:ext cx="5080000" cy="34290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06F13B8C-B817-EF3D-C2F2-80A9C7037BDF}"/>
              </a:ext>
            </a:extLst>
          </p:cNvPr>
          <p:cNvSpPr/>
          <p:nvPr/>
        </p:nvSpPr>
        <p:spPr>
          <a:xfrm>
            <a:off x="762000" y="1905000"/>
            <a:ext cx="5080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D56CD1D-EFA2-877B-4D71-978AE957CDB5}"/>
              </a:ext>
            </a:extLst>
          </p:cNvPr>
          <p:cNvSpPr/>
          <p:nvPr/>
        </p:nvSpPr>
        <p:spPr>
          <a:xfrm>
            <a:off x="762000" y="1905000"/>
            <a:ext cx="5080000" cy="76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B810938-D044-FD03-0B22-AA69BCAF00ED}"/>
              </a:ext>
            </a:extLst>
          </p:cNvPr>
          <p:cNvSpPr txBox="1"/>
          <p:nvPr/>
        </p:nvSpPr>
        <p:spPr>
          <a:xfrm>
            <a:off x="990600" y="2133600"/>
            <a:ext cx="4622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RF principales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C5259E8-BFFA-A0C7-4D70-B2CC7B281B72}"/>
              </a:ext>
            </a:extLst>
          </p:cNvPr>
          <p:cNvSpPr txBox="1"/>
          <p:nvPr/>
        </p:nvSpPr>
        <p:spPr>
          <a:xfrm>
            <a:off x="990600" y="2590800"/>
            <a:ext cx="4622800" cy="115929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RF1 Registrar residentes y departamentos.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RF2 Registrar gastos comunes.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RF3 Gestionar pagos y recibos.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RF4 Identificar morosos.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RF5 Reclamos, avisos y mensajes.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RF6 Informes financieros.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55E564FC-CA85-D3E5-C501-13D76519FFD8}"/>
              </a:ext>
            </a:extLst>
          </p:cNvPr>
          <p:cNvSpPr/>
          <p:nvPr/>
        </p:nvSpPr>
        <p:spPr>
          <a:xfrm>
            <a:off x="6388100" y="1955800"/>
            <a:ext cx="5080000" cy="34290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33C36C06-2D66-A291-9722-85CA66DF8EF6}"/>
              </a:ext>
            </a:extLst>
          </p:cNvPr>
          <p:cNvSpPr/>
          <p:nvPr/>
        </p:nvSpPr>
        <p:spPr>
          <a:xfrm>
            <a:off x="6350000" y="1905000"/>
            <a:ext cx="5080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A7AEAE9E-2F1D-179A-BE51-76A8EF5CDE3F}"/>
              </a:ext>
            </a:extLst>
          </p:cNvPr>
          <p:cNvSpPr/>
          <p:nvPr/>
        </p:nvSpPr>
        <p:spPr>
          <a:xfrm>
            <a:off x="6350000" y="1905000"/>
            <a:ext cx="5080000" cy="762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6BA4E45-392F-7443-B3EF-821277866124}"/>
              </a:ext>
            </a:extLst>
          </p:cNvPr>
          <p:cNvSpPr txBox="1"/>
          <p:nvPr/>
        </p:nvSpPr>
        <p:spPr>
          <a:xfrm>
            <a:off x="6578600" y="2133600"/>
            <a:ext cx="4622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RNF principales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1AB27B66-F922-2F8B-CE8C-40B9BAC939A2}"/>
              </a:ext>
            </a:extLst>
          </p:cNvPr>
          <p:cNvSpPr txBox="1"/>
          <p:nvPr/>
        </p:nvSpPr>
        <p:spPr>
          <a:xfrm>
            <a:off x="6578600" y="2590800"/>
            <a:ext cx="4622800" cy="97462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RNF1 Seguridad por roles y código único.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RNF2 Usabilidad y navegación simple.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RNF3 Rendimiento percibido bajo carga normal.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RNF4 Portabilidad web/móvil.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RNF5 Mantenibilidad por componentes.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827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5D2B7148-FA14-5663-2004-640FCB601EEC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B1F3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AE953D5-758D-D923-FF9C-DB8B2EF348AF}"/>
              </a:ext>
            </a:extLst>
          </p:cNvPr>
          <p:cNvSpPr/>
          <p:nvPr/>
        </p:nvSpPr>
        <p:spPr>
          <a:xfrm>
            <a:off x="0" y="736600"/>
            <a:ext cx="4318000" cy="508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62EF1AA-A2DE-7194-39F1-BFB61CAD2D18}"/>
              </a:ext>
            </a:extLst>
          </p:cNvPr>
          <p:cNvSpPr txBox="1"/>
          <p:nvPr/>
        </p:nvSpPr>
        <p:spPr>
          <a:xfrm>
            <a:off x="304800" y="190500"/>
            <a:ext cx="8382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CL" sz="1600" b="1">
                <a:solidFill>
                  <a:srgbClr val="FFFFFF"/>
                </a:solidFill>
                <a:latin typeface="Aptos Display" panose="020B0004020202020204" pitchFamily="34" charset="0"/>
              </a:rPr>
              <a:t>PROYECTO “EL MIRADOR”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E948A0A-73EF-E15D-4EFF-374D22718D20}"/>
              </a:ext>
            </a:extLst>
          </p:cNvPr>
          <p:cNvSpPr txBox="1"/>
          <p:nvPr/>
        </p:nvSpPr>
        <p:spPr>
          <a:xfrm>
            <a:off x="8255000" y="203200"/>
            <a:ext cx="36322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s-CL" sz="1000">
                <a:solidFill>
                  <a:srgbClr val="CBD5E1"/>
                </a:solidFill>
                <a:latin typeface="Aptos" panose="020B0004020202020204" pitchFamily="34" charset="0"/>
              </a:rPr>
              <a:t>RQY1102 · Ingeniería de Software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24674BE-0E95-38E4-7CEE-877D7CBB70DB}"/>
              </a:ext>
            </a:extLst>
          </p:cNvPr>
          <p:cNvSpPr txBox="1"/>
          <p:nvPr/>
        </p:nvSpPr>
        <p:spPr>
          <a:xfrm>
            <a:off x="508000" y="1041400"/>
            <a:ext cx="11176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CL" sz="2700" b="1">
                <a:solidFill>
                  <a:srgbClr val="0B1F34"/>
                </a:solidFill>
                <a:latin typeface="Aptos Display" panose="020B0004020202020204" pitchFamily="34" charset="0"/>
              </a:rPr>
              <a:t>Modelo de calidad: ISO/IEC 25010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75BD3892-E921-5642-E38D-B45B762BA765}"/>
              </a:ext>
            </a:extLst>
          </p:cNvPr>
          <p:cNvSpPr/>
          <p:nvPr/>
        </p:nvSpPr>
        <p:spPr>
          <a:xfrm>
            <a:off x="800100" y="1955800"/>
            <a:ext cx="3175000" cy="13335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0AFBACDD-9F9B-BE83-B1C9-23E9143B0F1F}"/>
              </a:ext>
            </a:extLst>
          </p:cNvPr>
          <p:cNvSpPr/>
          <p:nvPr/>
        </p:nvSpPr>
        <p:spPr>
          <a:xfrm>
            <a:off x="762000" y="1905000"/>
            <a:ext cx="3175000" cy="133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EDED9C9-C27C-07E7-3828-09C4354C1498}"/>
              </a:ext>
            </a:extLst>
          </p:cNvPr>
          <p:cNvSpPr/>
          <p:nvPr/>
        </p:nvSpPr>
        <p:spPr>
          <a:xfrm>
            <a:off x="762000" y="1905000"/>
            <a:ext cx="3175000" cy="76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CC45452-6946-0824-B396-C65B082C26B0}"/>
              </a:ext>
            </a:extLst>
          </p:cNvPr>
          <p:cNvSpPr txBox="1"/>
          <p:nvPr/>
        </p:nvSpPr>
        <p:spPr>
          <a:xfrm>
            <a:off x="990600" y="2133600"/>
            <a:ext cx="2717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Funcionalidad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9968D13-44D6-0013-9E67-AF474759F39C}"/>
              </a:ext>
            </a:extLst>
          </p:cNvPr>
          <p:cNvSpPr txBox="1"/>
          <p:nvPr/>
        </p:nvSpPr>
        <p:spPr>
          <a:xfrm>
            <a:off x="990600" y="2590800"/>
            <a:ext cx="27178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13 casos de uso cubiertos.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D84E8442-7A28-601F-CBF9-9D84E266568A}"/>
              </a:ext>
            </a:extLst>
          </p:cNvPr>
          <p:cNvSpPr/>
          <p:nvPr/>
        </p:nvSpPr>
        <p:spPr>
          <a:xfrm>
            <a:off x="4610100" y="1955800"/>
            <a:ext cx="3175000" cy="13335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3B552F33-6CB4-6788-1CD3-151384DF7BA8}"/>
              </a:ext>
            </a:extLst>
          </p:cNvPr>
          <p:cNvSpPr/>
          <p:nvPr/>
        </p:nvSpPr>
        <p:spPr>
          <a:xfrm>
            <a:off x="4572000" y="1905000"/>
            <a:ext cx="3175000" cy="133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43D2AB2C-189C-5B86-0B70-37D83C559FA5}"/>
              </a:ext>
            </a:extLst>
          </p:cNvPr>
          <p:cNvSpPr/>
          <p:nvPr/>
        </p:nvSpPr>
        <p:spPr>
          <a:xfrm>
            <a:off x="4572000" y="1905000"/>
            <a:ext cx="3175000" cy="762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3457AB0B-64FB-8667-E50A-D761E4CC6968}"/>
              </a:ext>
            </a:extLst>
          </p:cNvPr>
          <p:cNvSpPr txBox="1"/>
          <p:nvPr/>
        </p:nvSpPr>
        <p:spPr>
          <a:xfrm>
            <a:off x="4800600" y="2133600"/>
            <a:ext cx="2717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Usabilidad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03B0994C-98A6-814A-EF2C-FF7427B822EA}"/>
              </a:ext>
            </a:extLst>
          </p:cNvPr>
          <p:cNvSpPr txBox="1"/>
          <p:nvPr/>
        </p:nvSpPr>
        <p:spPr>
          <a:xfrm>
            <a:off x="4800600" y="2590800"/>
            <a:ext cx="27178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200">
                <a:solidFill>
                  <a:srgbClr val="334155"/>
                </a:solidFill>
                <a:latin typeface="Aptos" panose="020B0004020202020204" pitchFamily="34" charset="0"/>
              </a:rPr>
              <a:t>Interfaz clara por roles.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FAE6B2C6-DC64-7D4D-2661-ECD60D84B8AF}"/>
              </a:ext>
            </a:extLst>
          </p:cNvPr>
          <p:cNvSpPr/>
          <p:nvPr/>
        </p:nvSpPr>
        <p:spPr>
          <a:xfrm>
            <a:off x="8420100" y="1955800"/>
            <a:ext cx="3175000" cy="13335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1906AC88-A4BA-7430-DD4A-7778153B98B9}"/>
              </a:ext>
            </a:extLst>
          </p:cNvPr>
          <p:cNvSpPr/>
          <p:nvPr/>
        </p:nvSpPr>
        <p:spPr>
          <a:xfrm>
            <a:off x="8382000" y="1905000"/>
            <a:ext cx="3175000" cy="133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20DC693C-2991-A1DA-2C00-43AA68656DA0}"/>
              </a:ext>
            </a:extLst>
          </p:cNvPr>
          <p:cNvSpPr/>
          <p:nvPr/>
        </p:nvSpPr>
        <p:spPr>
          <a:xfrm>
            <a:off x="8382000" y="1905000"/>
            <a:ext cx="3175000" cy="76200"/>
          </a:xfrm>
          <a:prstGeom prst="rect">
            <a:avLst/>
          </a:prstGeom>
          <a:solidFill>
            <a:srgbClr val="22C5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3A022123-92A9-959A-2621-E34E46BE0112}"/>
              </a:ext>
            </a:extLst>
          </p:cNvPr>
          <p:cNvSpPr txBox="1"/>
          <p:nvPr/>
        </p:nvSpPr>
        <p:spPr>
          <a:xfrm>
            <a:off x="8610600" y="2133600"/>
            <a:ext cx="2717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Rendimiento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FC50FB6F-8D22-84D8-BC27-458855A141C1}"/>
              </a:ext>
            </a:extLst>
          </p:cNvPr>
          <p:cNvSpPr txBox="1"/>
          <p:nvPr/>
        </p:nvSpPr>
        <p:spPr>
          <a:xfrm>
            <a:off x="8610600" y="2590800"/>
            <a:ext cx="27178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200">
                <a:solidFill>
                  <a:srgbClr val="334155"/>
                </a:solidFill>
                <a:latin typeface="Aptos" panose="020B0004020202020204" pitchFamily="34" charset="0"/>
              </a:rPr>
              <a:t>Dashboard y navegación ágiles.</a:t>
            </a:r>
          </a:p>
        </p:txBody>
      </p:sp>
      <p:sp>
        <p:nvSpPr>
          <p:cNvPr id="22" name="Rectángulo: esquinas redondeadas 21">
            <a:extLst>
              <a:ext uri="{FF2B5EF4-FFF2-40B4-BE49-F238E27FC236}">
                <a16:creationId xmlns:a16="http://schemas.microsoft.com/office/drawing/2014/main" id="{0F0D3705-1DD3-6EAA-6492-124BF2425415}"/>
              </a:ext>
            </a:extLst>
          </p:cNvPr>
          <p:cNvSpPr/>
          <p:nvPr/>
        </p:nvSpPr>
        <p:spPr>
          <a:xfrm>
            <a:off x="800100" y="3670300"/>
            <a:ext cx="3175000" cy="13335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1E6AA6CB-A17C-D87C-0D4C-AF7ACFE2069A}"/>
              </a:ext>
            </a:extLst>
          </p:cNvPr>
          <p:cNvSpPr/>
          <p:nvPr/>
        </p:nvSpPr>
        <p:spPr>
          <a:xfrm>
            <a:off x="762000" y="3619500"/>
            <a:ext cx="3175000" cy="133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710DC037-F5B1-A0E9-A19B-9584B51D40F6}"/>
              </a:ext>
            </a:extLst>
          </p:cNvPr>
          <p:cNvSpPr/>
          <p:nvPr/>
        </p:nvSpPr>
        <p:spPr>
          <a:xfrm>
            <a:off x="762000" y="3619500"/>
            <a:ext cx="3175000" cy="76200"/>
          </a:xfrm>
          <a:prstGeom prst="rect">
            <a:avLst/>
          </a:prstGeom>
          <a:solidFill>
            <a:srgbClr val="F59E0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2375396A-5798-20F8-63F9-45706CC50F24}"/>
              </a:ext>
            </a:extLst>
          </p:cNvPr>
          <p:cNvSpPr txBox="1"/>
          <p:nvPr/>
        </p:nvSpPr>
        <p:spPr>
          <a:xfrm>
            <a:off x="990600" y="3848100"/>
            <a:ext cx="2717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Seguridad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33736D7A-E9CF-B110-F143-5126674FF55A}"/>
              </a:ext>
            </a:extLst>
          </p:cNvPr>
          <p:cNvSpPr txBox="1"/>
          <p:nvPr/>
        </p:nvSpPr>
        <p:spPr>
          <a:xfrm>
            <a:off x="990600" y="4305300"/>
            <a:ext cx="27178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Acceso por rol y código único.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27" name="Rectángulo: esquinas redondeadas 26">
            <a:extLst>
              <a:ext uri="{FF2B5EF4-FFF2-40B4-BE49-F238E27FC236}">
                <a16:creationId xmlns:a16="http://schemas.microsoft.com/office/drawing/2014/main" id="{4FA395A6-81F7-92E2-0108-98CD9442944D}"/>
              </a:ext>
            </a:extLst>
          </p:cNvPr>
          <p:cNvSpPr/>
          <p:nvPr/>
        </p:nvSpPr>
        <p:spPr>
          <a:xfrm>
            <a:off x="4610100" y="3670300"/>
            <a:ext cx="3175000" cy="13335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B67442DD-5812-D1E6-34ED-C82F7909ADAA}"/>
              </a:ext>
            </a:extLst>
          </p:cNvPr>
          <p:cNvSpPr/>
          <p:nvPr/>
        </p:nvSpPr>
        <p:spPr>
          <a:xfrm>
            <a:off x="4572000" y="3619500"/>
            <a:ext cx="3175000" cy="133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47A5FE5F-CBC5-6A25-0B3E-40167B3D8774}"/>
              </a:ext>
            </a:extLst>
          </p:cNvPr>
          <p:cNvSpPr/>
          <p:nvPr/>
        </p:nvSpPr>
        <p:spPr>
          <a:xfrm>
            <a:off x="4572000" y="3619500"/>
            <a:ext cx="3175000" cy="76200"/>
          </a:xfrm>
          <a:prstGeom prst="rect">
            <a:avLst/>
          </a:prstGeom>
          <a:solidFill>
            <a:srgbClr val="0B1F3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3269C9C5-A886-75D4-DADE-B8F4C779CAA8}"/>
              </a:ext>
            </a:extLst>
          </p:cNvPr>
          <p:cNvSpPr txBox="1"/>
          <p:nvPr/>
        </p:nvSpPr>
        <p:spPr>
          <a:xfrm>
            <a:off x="4800600" y="3848100"/>
            <a:ext cx="2717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Mantenibilidad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ED93FDB1-FB6E-EA5F-F9D5-C31D8E17EF60}"/>
              </a:ext>
            </a:extLst>
          </p:cNvPr>
          <p:cNvSpPr txBox="1"/>
          <p:nvPr/>
        </p:nvSpPr>
        <p:spPr>
          <a:xfrm>
            <a:off x="4800600" y="4305300"/>
            <a:ext cx="27178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200">
                <a:solidFill>
                  <a:srgbClr val="334155"/>
                </a:solidFill>
                <a:latin typeface="Aptos" panose="020B0004020202020204" pitchFamily="34" charset="0"/>
              </a:rPr>
              <a:t>Componentes y estructura modular.</a:t>
            </a: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38EFB5F7-E3B8-4564-8F56-6A7D0862A93C}"/>
              </a:ext>
            </a:extLst>
          </p:cNvPr>
          <p:cNvSpPr/>
          <p:nvPr/>
        </p:nvSpPr>
        <p:spPr>
          <a:xfrm>
            <a:off x="8420100" y="3670300"/>
            <a:ext cx="3175000" cy="13335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F8EC7C6B-5ED2-35A0-EBF3-54C801F99E43}"/>
              </a:ext>
            </a:extLst>
          </p:cNvPr>
          <p:cNvSpPr/>
          <p:nvPr/>
        </p:nvSpPr>
        <p:spPr>
          <a:xfrm>
            <a:off x="8382000" y="3619500"/>
            <a:ext cx="3175000" cy="133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ED45B281-D865-0AA7-BA11-ECD4D4EFD90A}"/>
              </a:ext>
            </a:extLst>
          </p:cNvPr>
          <p:cNvSpPr/>
          <p:nvPr/>
        </p:nvSpPr>
        <p:spPr>
          <a:xfrm>
            <a:off x="8382000" y="3619500"/>
            <a:ext cx="3175000" cy="76200"/>
          </a:xfrm>
          <a:prstGeom prst="rect">
            <a:avLst/>
          </a:prstGeom>
          <a:solidFill>
            <a:srgbClr val="EF444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7BF7B3A1-E846-848C-BD8F-C6DBF039A568}"/>
              </a:ext>
            </a:extLst>
          </p:cNvPr>
          <p:cNvSpPr txBox="1"/>
          <p:nvPr/>
        </p:nvSpPr>
        <p:spPr>
          <a:xfrm>
            <a:off x="8610600" y="3848100"/>
            <a:ext cx="2717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Portabilidad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38F6BE24-A31F-FC9D-7442-8289CC124172}"/>
              </a:ext>
            </a:extLst>
          </p:cNvPr>
          <p:cNvSpPr txBox="1"/>
          <p:nvPr/>
        </p:nvSpPr>
        <p:spPr>
          <a:xfrm>
            <a:off x="8610600" y="4305300"/>
            <a:ext cx="2717800" cy="23596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200">
                <a:solidFill>
                  <a:srgbClr val="334155"/>
                </a:solidFill>
                <a:latin typeface="Aptos" panose="020B0004020202020204" pitchFamily="34" charset="0"/>
              </a:rPr>
              <a:t>Navegador y uso responsivo.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0BCC9D49-9FED-3BDB-3C69-9B9F3CED913A}"/>
              </a:ext>
            </a:extLst>
          </p:cNvPr>
          <p:cNvSpPr txBox="1"/>
          <p:nvPr/>
        </p:nvSpPr>
        <p:spPr>
          <a:xfrm>
            <a:off x="1270000" y="5651500"/>
            <a:ext cx="9652000" cy="26674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s-MX" sz="1400" b="1">
                <a:solidFill>
                  <a:srgbClr val="0B1F34"/>
                </a:solidFill>
                <a:latin typeface="Aptos" panose="020B0004020202020204" pitchFamily="34" charset="0"/>
              </a:rPr>
              <a:t>La evaluación se documenta en plan de pruebas y casos de prueba con evidencias.</a:t>
            </a:r>
            <a:endParaRPr lang="es-CL" sz="1400" b="1">
              <a:solidFill>
                <a:srgbClr val="0B1F3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2829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18D9426D-C406-ADBE-FD67-445405D9CF37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B1F3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D074F57-ECDA-ED20-74B5-CA178B5DE9A2}"/>
              </a:ext>
            </a:extLst>
          </p:cNvPr>
          <p:cNvSpPr/>
          <p:nvPr/>
        </p:nvSpPr>
        <p:spPr>
          <a:xfrm>
            <a:off x="0" y="736600"/>
            <a:ext cx="4318000" cy="508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532C1B5-634B-23EA-DB4F-80E41B0212DB}"/>
              </a:ext>
            </a:extLst>
          </p:cNvPr>
          <p:cNvSpPr txBox="1"/>
          <p:nvPr/>
        </p:nvSpPr>
        <p:spPr>
          <a:xfrm>
            <a:off x="304800" y="190500"/>
            <a:ext cx="8382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CL" sz="1600" b="1">
                <a:solidFill>
                  <a:srgbClr val="FFFFFF"/>
                </a:solidFill>
                <a:latin typeface="Aptos Display" panose="020B0004020202020204" pitchFamily="34" charset="0"/>
              </a:rPr>
              <a:t>PROYECTO “EL MIRADOR”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2CC8677C-E811-20F6-1D88-747221530713}"/>
              </a:ext>
            </a:extLst>
          </p:cNvPr>
          <p:cNvSpPr txBox="1"/>
          <p:nvPr/>
        </p:nvSpPr>
        <p:spPr>
          <a:xfrm>
            <a:off x="8255000" y="203200"/>
            <a:ext cx="36322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s-CL" sz="1000">
                <a:solidFill>
                  <a:srgbClr val="CBD5E1"/>
                </a:solidFill>
                <a:latin typeface="Aptos" panose="020B0004020202020204" pitchFamily="34" charset="0"/>
              </a:rPr>
              <a:t>RQY1102 · Ingeniería de Software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E11F552-DE7A-B858-6C08-0F47206F7D5F}"/>
              </a:ext>
            </a:extLst>
          </p:cNvPr>
          <p:cNvSpPr txBox="1"/>
          <p:nvPr/>
        </p:nvSpPr>
        <p:spPr>
          <a:xfrm>
            <a:off x="508000" y="1041400"/>
            <a:ext cx="11176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2700" b="1">
                <a:solidFill>
                  <a:srgbClr val="0B1F34"/>
                </a:solidFill>
                <a:latin typeface="Aptos Display" panose="020B0004020202020204" pitchFamily="34" charset="0"/>
              </a:rPr>
              <a:t>Demostración del prototipo de alta fidelidad</a:t>
            </a:r>
            <a:endParaRPr lang="es-CL" sz="2700" b="1">
              <a:solidFill>
                <a:srgbClr val="0B1F34"/>
              </a:solidFill>
              <a:latin typeface="Aptos Display" panose="020B00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26E962E-9DD0-0C4F-8A0C-B4E461285B0C}"/>
              </a:ext>
            </a:extLst>
          </p:cNvPr>
          <p:cNvSpPr txBox="1"/>
          <p:nvPr/>
        </p:nvSpPr>
        <p:spPr>
          <a:xfrm>
            <a:off x="762000" y="1714500"/>
            <a:ext cx="10668000" cy="26674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s-CL" sz="1400" b="1">
                <a:solidFill>
                  <a:srgbClr val="0B1F34"/>
                </a:solidFill>
                <a:latin typeface="Aptos" panose="020B0004020202020204" pitchFamily="34" charset="0"/>
              </a:rPr>
              <a:t>Flujos a mostrar en vivo: login, dashboard administrador, registro de residentes, pagos, recibos y vista de propietario/arrendatario.</a:t>
            </a: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0D6BA957-6898-1AB5-1FAF-BD369CE97679}"/>
              </a:ext>
            </a:extLst>
          </p:cNvPr>
          <p:cNvSpPr/>
          <p:nvPr/>
        </p:nvSpPr>
        <p:spPr>
          <a:xfrm>
            <a:off x="698500" y="2413000"/>
            <a:ext cx="3175000" cy="2667000"/>
          </a:xfrm>
          <a:prstGeom prst="roundRect">
            <a:avLst/>
          </a:prstGeom>
          <a:solidFill>
            <a:srgbClr val="0F172A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35C1546A-0737-E0ED-CF54-A0F6D13F28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00" y="2514600"/>
            <a:ext cx="2971800" cy="2184400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C9489713-A287-79C3-274F-1D88441DF0B6}"/>
              </a:ext>
            </a:extLst>
          </p:cNvPr>
          <p:cNvSpPr txBox="1"/>
          <p:nvPr/>
        </p:nvSpPr>
        <p:spPr>
          <a:xfrm>
            <a:off x="825500" y="4737100"/>
            <a:ext cx="2921000" cy="20518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s-CL" sz="1000" b="1">
                <a:solidFill>
                  <a:srgbClr val="FFFFFF"/>
                </a:solidFill>
                <a:latin typeface="Aptos" panose="020B0004020202020204" pitchFamily="34" charset="0"/>
              </a:rPr>
              <a:t>Login por rol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D9074A83-C849-A4EC-DEEC-15C9DA10A013}"/>
              </a:ext>
            </a:extLst>
          </p:cNvPr>
          <p:cNvSpPr/>
          <p:nvPr/>
        </p:nvSpPr>
        <p:spPr>
          <a:xfrm>
            <a:off x="4508500" y="2413000"/>
            <a:ext cx="3175000" cy="2667000"/>
          </a:xfrm>
          <a:prstGeom prst="roundRect">
            <a:avLst/>
          </a:prstGeom>
          <a:solidFill>
            <a:srgbClr val="0F172A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3F689464-809B-6AF3-C468-5E27E9FA2F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0100" y="2514600"/>
            <a:ext cx="2971800" cy="2184400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3ACB3DE1-2E07-98C0-BF6C-99C3384B2F4E}"/>
              </a:ext>
            </a:extLst>
          </p:cNvPr>
          <p:cNvSpPr txBox="1"/>
          <p:nvPr/>
        </p:nvSpPr>
        <p:spPr>
          <a:xfrm>
            <a:off x="4635500" y="4737100"/>
            <a:ext cx="2921000" cy="20518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s-CL" sz="1000" b="1">
                <a:solidFill>
                  <a:srgbClr val="FFFFFF"/>
                </a:solidFill>
                <a:latin typeface="Aptos" panose="020B0004020202020204" pitchFamily="34" charset="0"/>
              </a:rPr>
              <a:t>Dashboard admin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8B92A37A-247F-D012-22B1-A9FD446F2BAF}"/>
              </a:ext>
            </a:extLst>
          </p:cNvPr>
          <p:cNvSpPr/>
          <p:nvPr/>
        </p:nvSpPr>
        <p:spPr>
          <a:xfrm>
            <a:off x="8318500" y="2413000"/>
            <a:ext cx="3175000" cy="2667000"/>
          </a:xfrm>
          <a:prstGeom prst="roundRect">
            <a:avLst/>
          </a:prstGeom>
          <a:solidFill>
            <a:srgbClr val="0F172A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1AE84F45-DB48-FFFD-96AA-8295409A55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0100" y="2514600"/>
            <a:ext cx="2971800" cy="2184400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B2029C01-CE59-EC7F-D356-2072518E7D53}"/>
              </a:ext>
            </a:extLst>
          </p:cNvPr>
          <p:cNvSpPr txBox="1"/>
          <p:nvPr/>
        </p:nvSpPr>
        <p:spPr>
          <a:xfrm>
            <a:off x="8445500" y="4737100"/>
            <a:ext cx="2921000" cy="20518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s-CL" sz="1000" b="1">
                <a:solidFill>
                  <a:srgbClr val="FFFFFF"/>
                </a:solidFill>
                <a:latin typeface="Aptos" panose="020B0004020202020204" pitchFamily="34" charset="0"/>
              </a:rPr>
              <a:t>Registro residente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7C80BACF-1F24-CC79-A799-978DC490EA24}"/>
              </a:ext>
            </a:extLst>
          </p:cNvPr>
          <p:cNvSpPr txBox="1"/>
          <p:nvPr/>
        </p:nvSpPr>
        <p:spPr>
          <a:xfrm>
            <a:off x="1143000" y="5461000"/>
            <a:ext cx="9906000" cy="282129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s-MX" sz="1500" b="1">
                <a:solidFill>
                  <a:srgbClr val="2563EB"/>
                </a:solidFill>
                <a:latin typeface="Aptos" panose="020B0004020202020204" pitchFamily="34" charset="0"/>
              </a:rPr>
              <a:t>Ejecución: cd Prototipo · npm run dev · http://localhost:5173</a:t>
            </a:r>
            <a:endParaRPr lang="es-CL" sz="1500" b="1">
              <a:solidFill>
                <a:srgbClr val="2563EB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84506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D976B3E9-9D20-ED01-71FC-DF101AFF30DA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B1F3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9DBBFFA-8F1D-BFEC-0B6A-FB864155C7E0}"/>
              </a:ext>
            </a:extLst>
          </p:cNvPr>
          <p:cNvSpPr/>
          <p:nvPr/>
        </p:nvSpPr>
        <p:spPr>
          <a:xfrm>
            <a:off x="0" y="736600"/>
            <a:ext cx="4318000" cy="508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65F2C04-C66C-65AB-2F37-2A5C462FCDE9}"/>
              </a:ext>
            </a:extLst>
          </p:cNvPr>
          <p:cNvSpPr txBox="1"/>
          <p:nvPr/>
        </p:nvSpPr>
        <p:spPr>
          <a:xfrm>
            <a:off x="304800" y="190500"/>
            <a:ext cx="8382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CL" sz="1600" b="1">
                <a:solidFill>
                  <a:srgbClr val="FFFFFF"/>
                </a:solidFill>
                <a:latin typeface="Aptos Display" panose="020B0004020202020204" pitchFamily="34" charset="0"/>
              </a:rPr>
              <a:t>PROYECTO “EL MIRADOR”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79B7D37-FC0C-0910-EEFB-E06FBE3E2CBA}"/>
              </a:ext>
            </a:extLst>
          </p:cNvPr>
          <p:cNvSpPr txBox="1"/>
          <p:nvPr/>
        </p:nvSpPr>
        <p:spPr>
          <a:xfrm>
            <a:off x="8255000" y="203200"/>
            <a:ext cx="36322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s-CL" sz="1000">
                <a:solidFill>
                  <a:srgbClr val="CBD5E1"/>
                </a:solidFill>
                <a:latin typeface="Aptos" panose="020B0004020202020204" pitchFamily="34" charset="0"/>
              </a:rPr>
              <a:t>RQY1102 · Ingeniería de Software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D2B2487-7AB7-F90B-99A8-10A3661EFB06}"/>
              </a:ext>
            </a:extLst>
          </p:cNvPr>
          <p:cNvSpPr txBox="1"/>
          <p:nvPr/>
        </p:nvSpPr>
        <p:spPr>
          <a:xfrm>
            <a:off x="508000" y="1041400"/>
            <a:ext cx="11176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2700" b="1">
                <a:solidFill>
                  <a:srgbClr val="0B1F34"/>
                </a:solidFill>
                <a:latin typeface="Aptos Display" panose="020B0004020202020204" pitchFamily="34" charset="0"/>
              </a:rPr>
              <a:t>Plan de pruebas y casos de prueba (ISO25000)</a:t>
            </a:r>
            <a:endParaRPr lang="es-CL" sz="2700" b="1">
              <a:solidFill>
                <a:srgbClr val="0B1F34"/>
              </a:solidFill>
              <a:latin typeface="Aptos Display" panose="020B0004020202020204" pitchFamily="34" charset="0"/>
            </a:endParaRP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D6B077C7-C1CF-DAC9-39B6-358A25AF8D27}"/>
              </a:ext>
            </a:extLst>
          </p:cNvPr>
          <p:cNvSpPr/>
          <p:nvPr/>
        </p:nvSpPr>
        <p:spPr>
          <a:xfrm>
            <a:off x="736600" y="1892300"/>
            <a:ext cx="3429000" cy="31750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1A2A8C2F-2C7A-A7D8-C102-12E2D8D76691}"/>
              </a:ext>
            </a:extLst>
          </p:cNvPr>
          <p:cNvSpPr/>
          <p:nvPr/>
        </p:nvSpPr>
        <p:spPr>
          <a:xfrm>
            <a:off x="698500" y="1841500"/>
            <a:ext cx="3429000" cy="3175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5FDE8426-EB66-1662-1F5E-1EFC8308B4D9}"/>
              </a:ext>
            </a:extLst>
          </p:cNvPr>
          <p:cNvSpPr/>
          <p:nvPr/>
        </p:nvSpPr>
        <p:spPr>
          <a:xfrm>
            <a:off x="698500" y="1841500"/>
            <a:ext cx="3429000" cy="76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EDA9477-73E5-A29E-60C6-4F9AE50D0C41}"/>
              </a:ext>
            </a:extLst>
          </p:cNvPr>
          <p:cNvSpPr txBox="1"/>
          <p:nvPr/>
        </p:nvSpPr>
        <p:spPr>
          <a:xfrm>
            <a:off x="927100" y="2070100"/>
            <a:ext cx="2971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Plan de pruebas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7A6FE741-3399-D66E-E9C3-98F110F62864}"/>
              </a:ext>
            </a:extLst>
          </p:cNvPr>
          <p:cNvSpPr txBox="1"/>
          <p:nvPr/>
        </p:nvSpPr>
        <p:spPr>
          <a:xfrm>
            <a:off x="927100" y="2527300"/>
            <a:ext cx="2971800" cy="60529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Archivo: 02_Plan_Pruebas_El_Mirador.xlsx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Define alcance, criterios, tipos de prueba y relación con ISO25000.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6A97CAF1-D02D-C98A-0331-989ED36D51FB}"/>
              </a:ext>
            </a:extLst>
          </p:cNvPr>
          <p:cNvSpPr/>
          <p:nvPr/>
        </p:nvSpPr>
        <p:spPr>
          <a:xfrm>
            <a:off x="4419600" y="1892300"/>
            <a:ext cx="3429000" cy="31750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1578B453-C201-645B-2EA6-6F3CC704494F}"/>
              </a:ext>
            </a:extLst>
          </p:cNvPr>
          <p:cNvSpPr/>
          <p:nvPr/>
        </p:nvSpPr>
        <p:spPr>
          <a:xfrm>
            <a:off x="4381500" y="1841500"/>
            <a:ext cx="3429000" cy="3175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0438C6C9-BCA0-0FF4-B2FC-F47042A1F2C1}"/>
              </a:ext>
            </a:extLst>
          </p:cNvPr>
          <p:cNvSpPr/>
          <p:nvPr/>
        </p:nvSpPr>
        <p:spPr>
          <a:xfrm>
            <a:off x="4381500" y="1841500"/>
            <a:ext cx="3429000" cy="76200"/>
          </a:xfrm>
          <a:prstGeom prst="rect">
            <a:avLst/>
          </a:prstGeom>
          <a:solidFill>
            <a:srgbClr val="22C5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11E922B-CF1B-FA50-3EE1-4E836D427B50}"/>
              </a:ext>
            </a:extLst>
          </p:cNvPr>
          <p:cNvSpPr txBox="1"/>
          <p:nvPr/>
        </p:nvSpPr>
        <p:spPr>
          <a:xfrm>
            <a:off x="4610100" y="2070100"/>
            <a:ext cx="2971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Casos + evidencias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D5D42CFF-1C41-0565-F6FA-F2A9E8B02D5D}"/>
              </a:ext>
            </a:extLst>
          </p:cNvPr>
          <p:cNvSpPr txBox="1"/>
          <p:nvPr/>
        </p:nvSpPr>
        <p:spPr>
          <a:xfrm>
            <a:off x="4610100" y="2527300"/>
            <a:ext cx="2971800" cy="974626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Archivo: 03_Casos_Prueba_Evidencias_El_Mirador.xlsx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Registra pasos, datos, resultado esperado, obtenido, estado y evidencia.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835DC827-C189-213C-991A-612DD3493B19}"/>
              </a:ext>
            </a:extLst>
          </p:cNvPr>
          <p:cNvSpPr/>
          <p:nvPr/>
        </p:nvSpPr>
        <p:spPr>
          <a:xfrm>
            <a:off x="8102600" y="1892300"/>
            <a:ext cx="3429000" cy="31750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B3034C34-CBE9-33EE-2079-A49AE6B4A6D7}"/>
              </a:ext>
            </a:extLst>
          </p:cNvPr>
          <p:cNvSpPr/>
          <p:nvPr/>
        </p:nvSpPr>
        <p:spPr>
          <a:xfrm>
            <a:off x="8064500" y="1841500"/>
            <a:ext cx="3429000" cy="3175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4D5311BC-FFA7-C4DA-F567-618D83ABAF85}"/>
              </a:ext>
            </a:extLst>
          </p:cNvPr>
          <p:cNvSpPr/>
          <p:nvPr/>
        </p:nvSpPr>
        <p:spPr>
          <a:xfrm>
            <a:off x="8064500" y="1841500"/>
            <a:ext cx="3429000" cy="762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70E886AB-B7E7-0997-700A-F4F6F04537FD}"/>
              </a:ext>
            </a:extLst>
          </p:cNvPr>
          <p:cNvSpPr txBox="1"/>
          <p:nvPr/>
        </p:nvSpPr>
        <p:spPr>
          <a:xfrm>
            <a:off x="8293100" y="2070100"/>
            <a:ext cx="2971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Cobertura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653140D7-3B90-708F-72FE-719513127AFC}"/>
              </a:ext>
            </a:extLst>
          </p:cNvPr>
          <p:cNvSpPr txBox="1"/>
          <p:nvPr/>
        </p:nvSpPr>
        <p:spPr>
          <a:xfrm>
            <a:off x="8293100" y="2527300"/>
            <a:ext cx="2971800" cy="60529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Login, roles, residentes, gastos, pagos, recibos, reclamos, reportes, seguridad, usabilidad y portabilidad.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58367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3BAA79B9-6726-A3B7-E7E1-833CED00096D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B1F3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07DDDA5-E0D6-8974-F857-7F179DF5A87C}"/>
              </a:ext>
            </a:extLst>
          </p:cNvPr>
          <p:cNvSpPr/>
          <p:nvPr/>
        </p:nvSpPr>
        <p:spPr>
          <a:xfrm>
            <a:off x="0" y="736600"/>
            <a:ext cx="4318000" cy="508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6497F31-BFBF-ECE2-8CA7-27C7F41B8652}"/>
              </a:ext>
            </a:extLst>
          </p:cNvPr>
          <p:cNvSpPr txBox="1"/>
          <p:nvPr/>
        </p:nvSpPr>
        <p:spPr>
          <a:xfrm>
            <a:off x="304800" y="190500"/>
            <a:ext cx="8382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CL" sz="1600" b="1">
                <a:solidFill>
                  <a:srgbClr val="FFFFFF"/>
                </a:solidFill>
                <a:latin typeface="Aptos Display" panose="020B0004020202020204" pitchFamily="34" charset="0"/>
              </a:rPr>
              <a:t>PROYECTO “EL MIRADOR”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7180913-5F54-1AD0-0A7B-CE4B7B1AC467}"/>
              </a:ext>
            </a:extLst>
          </p:cNvPr>
          <p:cNvSpPr txBox="1"/>
          <p:nvPr/>
        </p:nvSpPr>
        <p:spPr>
          <a:xfrm>
            <a:off x="8255000" y="203200"/>
            <a:ext cx="36322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s-CL" sz="1000">
                <a:solidFill>
                  <a:srgbClr val="CBD5E1"/>
                </a:solidFill>
                <a:latin typeface="Aptos" panose="020B0004020202020204" pitchFamily="34" charset="0"/>
              </a:rPr>
              <a:t>RQY1102 · Ingeniería de Software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9BDDEBF-5441-F4B4-D9F8-1804270189C9}"/>
              </a:ext>
            </a:extLst>
          </p:cNvPr>
          <p:cNvSpPr txBox="1"/>
          <p:nvPr/>
        </p:nvSpPr>
        <p:spPr>
          <a:xfrm>
            <a:off x="508000" y="1041400"/>
            <a:ext cx="11176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2700" b="1">
                <a:solidFill>
                  <a:srgbClr val="0B1F34"/>
                </a:solidFill>
                <a:latin typeface="Aptos Display" panose="020B0004020202020204" pitchFamily="34" charset="0"/>
              </a:rPr>
              <a:t>Acciones de mejora y control de versiones</a:t>
            </a:r>
            <a:endParaRPr lang="es-CL" sz="2700" b="1">
              <a:solidFill>
                <a:srgbClr val="0B1F34"/>
              </a:solidFill>
              <a:latin typeface="Aptos Display" panose="020B0004020202020204" pitchFamily="34" charset="0"/>
            </a:endParaRP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F1301C9-5B6C-FCF7-988C-A93BE7765910}"/>
              </a:ext>
            </a:extLst>
          </p:cNvPr>
          <p:cNvSpPr/>
          <p:nvPr/>
        </p:nvSpPr>
        <p:spPr>
          <a:xfrm>
            <a:off x="736600" y="1892300"/>
            <a:ext cx="3429000" cy="33020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2488A573-4122-407F-8444-5293B4258526}"/>
              </a:ext>
            </a:extLst>
          </p:cNvPr>
          <p:cNvSpPr/>
          <p:nvPr/>
        </p:nvSpPr>
        <p:spPr>
          <a:xfrm>
            <a:off x="698500" y="1841500"/>
            <a:ext cx="3429000" cy="330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ED8BAC4-AF0C-264B-3E76-93B8072F7684}"/>
              </a:ext>
            </a:extLst>
          </p:cNvPr>
          <p:cNvSpPr/>
          <p:nvPr/>
        </p:nvSpPr>
        <p:spPr>
          <a:xfrm>
            <a:off x="698500" y="1841500"/>
            <a:ext cx="3429000" cy="76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48521F3-268B-3153-34AE-30AC29D9B59A}"/>
              </a:ext>
            </a:extLst>
          </p:cNvPr>
          <p:cNvSpPr txBox="1"/>
          <p:nvPr/>
        </p:nvSpPr>
        <p:spPr>
          <a:xfrm>
            <a:off x="927100" y="2070100"/>
            <a:ext cx="2971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Control documentado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23BE67B-64FF-4684-89F4-09BB1BF87B98}"/>
              </a:ext>
            </a:extLst>
          </p:cNvPr>
          <p:cNvSpPr txBox="1"/>
          <p:nvPr/>
        </p:nvSpPr>
        <p:spPr>
          <a:xfrm>
            <a:off x="927100" y="2527300"/>
            <a:ext cx="2971800" cy="78996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Archivo: 04_Control_Versiones_El_Mirador.xlsx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Versiones v1.0 a v8.0 con módulo, descripción del cambio y observaciones.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DA690451-DD90-DD84-F551-C005553A0611}"/>
              </a:ext>
            </a:extLst>
          </p:cNvPr>
          <p:cNvSpPr/>
          <p:nvPr/>
        </p:nvSpPr>
        <p:spPr>
          <a:xfrm>
            <a:off x="4419600" y="1892300"/>
            <a:ext cx="3429000" cy="33020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35E9E392-11F8-24B4-CF09-DD4D45E16DAB}"/>
              </a:ext>
            </a:extLst>
          </p:cNvPr>
          <p:cNvSpPr/>
          <p:nvPr/>
        </p:nvSpPr>
        <p:spPr>
          <a:xfrm>
            <a:off x="4381500" y="1841500"/>
            <a:ext cx="3429000" cy="330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0213AB6E-9E65-0BC8-34F4-EA60822944DA}"/>
              </a:ext>
            </a:extLst>
          </p:cNvPr>
          <p:cNvSpPr/>
          <p:nvPr/>
        </p:nvSpPr>
        <p:spPr>
          <a:xfrm>
            <a:off x="4381500" y="1841500"/>
            <a:ext cx="3429000" cy="76200"/>
          </a:xfrm>
          <a:prstGeom prst="rect">
            <a:avLst/>
          </a:prstGeom>
          <a:solidFill>
            <a:srgbClr val="22C5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9BE6917-C61B-C48A-0608-DE34E574E83A}"/>
              </a:ext>
            </a:extLst>
          </p:cNvPr>
          <p:cNvSpPr txBox="1"/>
          <p:nvPr/>
        </p:nvSpPr>
        <p:spPr>
          <a:xfrm>
            <a:off x="4610100" y="2070100"/>
            <a:ext cx="2971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Mejoras aplicadas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D4C89CF-DCA2-0D23-7020-5A90D2614A6C}"/>
              </a:ext>
            </a:extLst>
          </p:cNvPr>
          <p:cNvSpPr txBox="1"/>
          <p:nvPr/>
        </p:nvSpPr>
        <p:spPr>
          <a:xfrm>
            <a:off x="4610100" y="2527300"/>
            <a:ext cx="2971800" cy="115929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Sincronización residentes/departamentos.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Estilo visual oscuro.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Mensajes y avisos.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Casos de prueba corregidos.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• Estructura final de entrega.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65FE911E-EA8F-3F00-E73F-2DAEAC05881E}"/>
              </a:ext>
            </a:extLst>
          </p:cNvPr>
          <p:cNvSpPr/>
          <p:nvPr/>
        </p:nvSpPr>
        <p:spPr>
          <a:xfrm>
            <a:off x="8102600" y="1892300"/>
            <a:ext cx="3429000" cy="33020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F022FE51-E100-85E1-8FF9-DFDA60FDD50C}"/>
              </a:ext>
            </a:extLst>
          </p:cNvPr>
          <p:cNvSpPr/>
          <p:nvPr/>
        </p:nvSpPr>
        <p:spPr>
          <a:xfrm>
            <a:off x="8064500" y="1841500"/>
            <a:ext cx="3429000" cy="330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AFC9049E-9BAF-B909-1408-36D40969929B}"/>
              </a:ext>
            </a:extLst>
          </p:cNvPr>
          <p:cNvSpPr/>
          <p:nvPr/>
        </p:nvSpPr>
        <p:spPr>
          <a:xfrm>
            <a:off x="8064500" y="1841500"/>
            <a:ext cx="3429000" cy="762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28AFDDAC-3A6C-2F64-D93D-479BC4AB2CB2}"/>
              </a:ext>
            </a:extLst>
          </p:cNvPr>
          <p:cNvSpPr txBox="1"/>
          <p:nvPr/>
        </p:nvSpPr>
        <p:spPr>
          <a:xfrm>
            <a:off x="8293100" y="2070100"/>
            <a:ext cx="2971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GitHub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DD419CD2-B12B-0F73-DA6B-C5765432AF5B}"/>
              </a:ext>
            </a:extLst>
          </p:cNvPr>
          <p:cNvSpPr txBox="1"/>
          <p:nvPr/>
        </p:nvSpPr>
        <p:spPr>
          <a:xfrm>
            <a:off x="8293100" y="2527300"/>
            <a:ext cx="2971800" cy="789960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Repositorio con commits descriptivos y carpeta final:</a:t>
            </a:r>
          </a:p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documentos, diagramas, capturas, planillas y prototipo.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78043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401C73AB-685B-A6CC-88D0-EB4DE50E67BF}"/>
              </a:ext>
            </a:extLst>
          </p:cNvPr>
          <p:cNvSpPr/>
          <p:nvPr/>
        </p:nvSpPr>
        <p:spPr>
          <a:xfrm>
            <a:off x="0" y="0"/>
            <a:ext cx="12192000" cy="736600"/>
          </a:xfrm>
          <a:prstGeom prst="rect">
            <a:avLst/>
          </a:prstGeom>
          <a:solidFill>
            <a:srgbClr val="0B1F3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8BD0D0F-8635-B427-341A-54D0AAC824AF}"/>
              </a:ext>
            </a:extLst>
          </p:cNvPr>
          <p:cNvSpPr/>
          <p:nvPr/>
        </p:nvSpPr>
        <p:spPr>
          <a:xfrm>
            <a:off x="0" y="736600"/>
            <a:ext cx="4318000" cy="508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97D0E2C-1A00-F574-505F-9AE7174254EC}"/>
              </a:ext>
            </a:extLst>
          </p:cNvPr>
          <p:cNvSpPr txBox="1"/>
          <p:nvPr/>
        </p:nvSpPr>
        <p:spPr>
          <a:xfrm>
            <a:off x="304800" y="190500"/>
            <a:ext cx="8382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CL" sz="1600" b="1">
                <a:solidFill>
                  <a:srgbClr val="FFFFFF"/>
                </a:solidFill>
                <a:latin typeface="Aptos Display" panose="020B0004020202020204" pitchFamily="34" charset="0"/>
              </a:rPr>
              <a:t>PROYECTO “EL MIRADOR”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C3D81B1-D2C2-D30D-DFEA-19C090EC137A}"/>
              </a:ext>
            </a:extLst>
          </p:cNvPr>
          <p:cNvSpPr txBox="1"/>
          <p:nvPr/>
        </p:nvSpPr>
        <p:spPr>
          <a:xfrm>
            <a:off x="8255000" y="203200"/>
            <a:ext cx="36322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s-CL" sz="1000">
                <a:solidFill>
                  <a:srgbClr val="CBD5E1"/>
                </a:solidFill>
                <a:latin typeface="Aptos" panose="020B0004020202020204" pitchFamily="34" charset="0"/>
              </a:rPr>
              <a:t>RQY1102 · Ingeniería de Software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164DDAB-46B7-7AF8-9611-E4B13843CA1F}"/>
              </a:ext>
            </a:extLst>
          </p:cNvPr>
          <p:cNvSpPr txBox="1"/>
          <p:nvPr/>
        </p:nvSpPr>
        <p:spPr>
          <a:xfrm>
            <a:off x="508000" y="1041400"/>
            <a:ext cx="11176000" cy="5078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s-MX" sz="2700" b="1">
                <a:solidFill>
                  <a:srgbClr val="0B1F34"/>
                </a:solidFill>
                <a:latin typeface="Aptos Display" panose="020B0004020202020204" pitchFamily="34" charset="0"/>
              </a:rPr>
              <a:t>Cierre y preguntas de la comisión</a:t>
            </a:r>
            <a:endParaRPr lang="es-CL" sz="2700" b="1">
              <a:solidFill>
                <a:srgbClr val="0B1F34"/>
              </a:solidFill>
              <a:latin typeface="Aptos Display" panose="020B00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20F960B-E14B-72D7-3555-5460A259A8CC}"/>
              </a:ext>
            </a:extLst>
          </p:cNvPr>
          <p:cNvSpPr txBox="1"/>
          <p:nvPr/>
        </p:nvSpPr>
        <p:spPr>
          <a:xfrm>
            <a:off x="1016000" y="1905000"/>
            <a:ext cx="10160000" cy="1159292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s-MX" sz="2400" b="1">
                <a:solidFill>
                  <a:srgbClr val="0B1F34"/>
                </a:solidFill>
                <a:latin typeface="Aptos" panose="020B0004020202020204" pitchFamily="34" charset="0"/>
              </a:rPr>
              <a:t>El Mirador integra arquitectura, prototipo funcional, gestión del proyecto, calidad, pruebas y control de versiones en una entrega trazable.</a:t>
            </a:r>
            <a:endParaRPr lang="es-CL" sz="2400" b="1">
              <a:solidFill>
                <a:srgbClr val="0B1F34"/>
              </a:solidFill>
              <a:latin typeface="Aptos" panose="020B0004020202020204" pitchFamily="34" charset="0"/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43B946A1-586A-5E1D-85C7-4696F4F5ACA1}"/>
              </a:ext>
            </a:extLst>
          </p:cNvPr>
          <p:cNvSpPr/>
          <p:nvPr/>
        </p:nvSpPr>
        <p:spPr>
          <a:xfrm>
            <a:off x="1308100" y="3416300"/>
            <a:ext cx="2921000" cy="15240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DB5634A2-2F39-57E9-492D-906BC208D36E}"/>
              </a:ext>
            </a:extLst>
          </p:cNvPr>
          <p:cNvSpPr/>
          <p:nvPr/>
        </p:nvSpPr>
        <p:spPr>
          <a:xfrm>
            <a:off x="1270000" y="3365500"/>
            <a:ext cx="2921000" cy="152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3E996964-47DF-963D-9CA6-7933A3C29903}"/>
              </a:ext>
            </a:extLst>
          </p:cNvPr>
          <p:cNvSpPr/>
          <p:nvPr/>
        </p:nvSpPr>
        <p:spPr>
          <a:xfrm>
            <a:off x="1270000" y="3365500"/>
            <a:ext cx="2921000" cy="76200"/>
          </a:xfrm>
          <a:prstGeom prst="rect">
            <a:avLst/>
          </a:prstGeom>
          <a:solidFill>
            <a:srgbClr val="22C5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7ABFA2F7-CDD8-1F57-72CE-5CB87DB11F6F}"/>
              </a:ext>
            </a:extLst>
          </p:cNvPr>
          <p:cNvSpPr txBox="1"/>
          <p:nvPr/>
        </p:nvSpPr>
        <p:spPr>
          <a:xfrm>
            <a:off x="1498600" y="3594100"/>
            <a:ext cx="2463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Valor para el edificio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DCDB73F-0AE9-0AED-E773-AB6B9014F376}"/>
              </a:ext>
            </a:extLst>
          </p:cNvPr>
          <p:cNvSpPr txBox="1"/>
          <p:nvPr/>
        </p:nvSpPr>
        <p:spPr>
          <a:xfrm>
            <a:off x="1498600" y="4051300"/>
            <a:ext cx="2463800" cy="60529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Menos gestión manual, mejor control de morosidad y mayor transparencia.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367ECCA3-7181-DE9D-7CD2-FB9DA276A878}"/>
              </a:ext>
            </a:extLst>
          </p:cNvPr>
          <p:cNvSpPr/>
          <p:nvPr/>
        </p:nvSpPr>
        <p:spPr>
          <a:xfrm>
            <a:off x="4673600" y="3416300"/>
            <a:ext cx="2921000" cy="15240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4DCAB191-4FC5-CE95-35C0-AA2DB7AFDB91}"/>
              </a:ext>
            </a:extLst>
          </p:cNvPr>
          <p:cNvSpPr/>
          <p:nvPr/>
        </p:nvSpPr>
        <p:spPr>
          <a:xfrm>
            <a:off x="4635500" y="3365500"/>
            <a:ext cx="2921000" cy="152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8C8AD05F-F73A-6743-3454-96E4BAAA34DC}"/>
              </a:ext>
            </a:extLst>
          </p:cNvPr>
          <p:cNvSpPr/>
          <p:nvPr/>
        </p:nvSpPr>
        <p:spPr>
          <a:xfrm>
            <a:off x="4635500" y="3365500"/>
            <a:ext cx="2921000" cy="76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06290803-DFCC-2554-0AA6-7EA957182153}"/>
              </a:ext>
            </a:extLst>
          </p:cNvPr>
          <p:cNvSpPr txBox="1"/>
          <p:nvPr/>
        </p:nvSpPr>
        <p:spPr>
          <a:xfrm>
            <a:off x="4864100" y="3594100"/>
            <a:ext cx="2463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Valor técnico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080F250-7A04-221A-EE63-8CE5D70703BB}"/>
              </a:ext>
            </a:extLst>
          </p:cNvPr>
          <p:cNvSpPr txBox="1"/>
          <p:nvPr/>
        </p:nvSpPr>
        <p:spPr>
          <a:xfrm>
            <a:off x="4864100" y="4051300"/>
            <a:ext cx="2463800" cy="605294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Arquitectura 4+1, React/Vite, módulos por rol y documentación completa.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6C364C56-63CA-395D-6DA7-B0BC4FB3925B}"/>
              </a:ext>
            </a:extLst>
          </p:cNvPr>
          <p:cNvSpPr/>
          <p:nvPr/>
        </p:nvSpPr>
        <p:spPr>
          <a:xfrm>
            <a:off x="8039100" y="3416300"/>
            <a:ext cx="2921000" cy="1524000"/>
          </a:xfrm>
          <a:prstGeom prst="roundRect">
            <a:avLst/>
          </a:prstGeom>
          <a:solidFill>
            <a:srgbClr val="E2E8F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0471DC30-5D7C-22CA-2A34-E0BF7A59FE84}"/>
              </a:ext>
            </a:extLst>
          </p:cNvPr>
          <p:cNvSpPr/>
          <p:nvPr/>
        </p:nvSpPr>
        <p:spPr>
          <a:xfrm>
            <a:off x="8001000" y="3365500"/>
            <a:ext cx="2921000" cy="152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FB1E5E2E-9F76-5C9F-30BA-6AEB1AC6038A}"/>
              </a:ext>
            </a:extLst>
          </p:cNvPr>
          <p:cNvSpPr/>
          <p:nvPr/>
        </p:nvSpPr>
        <p:spPr>
          <a:xfrm>
            <a:off x="8001000" y="3365500"/>
            <a:ext cx="2921000" cy="76200"/>
          </a:xfrm>
          <a:prstGeom prst="rect">
            <a:avLst/>
          </a:prstGeom>
          <a:solidFill>
            <a:srgbClr val="0EA5E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C7F6A108-0FA4-B7C1-DD72-32FE79BA8BAC}"/>
              </a:ext>
            </a:extLst>
          </p:cNvPr>
          <p:cNvSpPr txBox="1"/>
          <p:nvPr/>
        </p:nvSpPr>
        <p:spPr>
          <a:xfrm>
            <a:off x="8229600" y="3594100"/>
            <a:ext cx="2463800" cy="297517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CL" sz="1600" b="1">
                <a:solidFill>
                  <a:srgbClr val="0B1F34"/>
                </a:solidFill>
                <a:latin typeface="Aptos" panose="020B0004020202020204" pitchFamily="34" charset="0"/>
              </a:rPr>
              <a:t>Entrega final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47AF8AFF-E954-49F5-B327-BB88FBF095E7}"/>
              </a:ext>
            </a:extLst>
          </p:cNvPr>
          <p:cNvSpPr txBox="1"/>
          <p:nvPr/>
        </p:nvSpPr>
        <p:spPr>
          <a:xfrm>
            <a:off x="8229600" y="4051300"/>
            <a:ext cx="2463800" cy="4206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r>
              <a:rPr lang="es-MX" sz="1200">
                <a:solidFill>
                  <a:srgbClr val="334155"/>
                </a:solidFill>
                <a:latin typeface="Aptos" panose="020B0004020202020204" pitchFamily="34" charset="0"/>
              </a:rPr>
              <a:t>Carpeta transversal con DAS 2.6, evidencias, planillas y prototipo.</a:t>
            </a:r>
            <a:endParaRPr lang="es-CL" sz="1200">
              <a:solidFill>
                <a:srgbClr val="334155"/>
              </a:solidFill>
              <a:latin typeface="Aptos" panose="020B0004020202020204" pitchFamily="34" charset="0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33D9A659-81AA-8C90-6AC5-8AF23D486ADE}"/>
              </a:ext>
            </a:extLst>
          </p:cNvPr>
          <p:cNvSpPr txBox="1"/>
          <p:nvPr/>
        </p:nvSpPr>
        <p:spPr>
          <a:xfrm>
            <a:off x="3048000" y="5588000"/>
            <a:ext cx="6096000" cy="420628"/>
          </a:xfrm>
          <a:prstGeom prst="rect">
            <a:avLst/>
          </a:prstGeom>
          <a:noFill/>
        </p:spPr>
        <p:txBody>
          <a:bodyPr vert="horz" wrap="square" lIns="50800" tIns="25400" rIns="50800" bIns="25400" rtlCol="0">
            <a:spAutoFit/>
          </a:bodyPr>
          <a:lstStyle/>
          <a:p>
            <a:pPr algn="ctr"/>
            <a:r>
              <a:rPr lang="es-CL" sz="2400" b="1">
                <a:solidFill>
                  <a:srgbClr val="2563EB"/>
                </a:solidFill>
                <a:latin typeface="Aptos" panose="020B0004020202020204" pitchFamily="34" charset="0"/>
              </a:rPr>
              <a:t>Gracias · Preguntas</a:t>
            </a:r>
          </a:p>
        </p:txBody>
      </p:sp>
    </p:spTree>
    <p:extLst>
      <p:ext uri="{BB962C8B-B14F-4D97-AF65-F5344CB8AC3E}">
        <p14:creationId xmlns:p14="http://schemas.microsoft.com/office/powerpoint/2010/main" val="176653194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1238</Words>
  <Application>Microsoft Office PowerPoint</Application>
  <PresentationFormat>Personalizado</PresentationFormat>
  <Paragraphs>193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amaro guerra</dc:creator>
  <cp:lastModifiedBy>amaro guerra</cp:lastModifiedBy>
  <cp:revision>1</cp:revision>
  <dcterms:created xsi:type="dcterms:W3CDTF">2026-07-10T02:09:45Z</dcterms:created>
  <dcterms:modified xsi:type="dcterms:W3CDTF">2026-07-10T02:09:45Z</dcterms:modified>
</cp:coreProperties>
</file>