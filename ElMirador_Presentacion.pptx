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lGLozgrOwB/6hdV341aNTXSpe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f1c473a34b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g3f1c473a34b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f1c473a34b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217920" y="-1371600"/>
            <a:ext cx="4572000" cy="4572000"/>
          </a:xfrm>
          <a:prstGeom prst="ellipse">
            <a:avLst/>
          </a:prstGeom>
          <a:solidFill>
            <a:srgbClr val="0D9488">
              <a:alpha val="18039"/>
            </a:srgbClr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0" y="-822960"/>
            <a:ext cx="3200400" cy="3200400"/>
          </a:xfrm>
          <a:prstGeom prst="ellipse">
            <a:avLst/>
          </a:prstGeom>
          <a:solidFill>
            <a:srgbClr val="2DD4BF">
              <a:alpha val="10196"/>
            </a:srgbClr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02920" y="1188720"/>
            <a:ext cx="64008" cy="23774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713232" y="114300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13232" y="150876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6200"/>
              <a:buFont typeface="Calibri"/>
              <a:buNone/>
            </a:pPr>
            <a:r>
              <a:rPr b="1" i="0" lang="en-US" sz="6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El Mirador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13232" y="2560320"/>
            <a:ext cx="6858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Documento de Arquitectura de Software (DAS)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713232" y="3063240"/>
            <a:ext cx="5486400" cy="228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713232" y="3200400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👤 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Felipe 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Hernández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- Matías Guerra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273552" y="3200400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📘 Ingeniería de Software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833872" y="3200400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📅 Mayo 2026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502920" y="4480560"/>
            <a:ext cx="1463040" cy="320040"/>
          </a:xfrm>
          <a:prstGeom prst="roundRect">
            <a:avLst>
              <a:gd fmla="val 17143" name="adj"/>
            </a:avLst>
          </a:prstGeom>
          <a:solidFill>
            <a:srgbClr val="0F766E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502920" y="448056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VERSIÓN 2.5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Problema y Solución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320040" y="914400"/>
            <a:ext cx="3931920" cy="356616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BE1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320040" y="914400"/>
            <a:ext cx="3931920" cy="411480"/>
          </a:xfrm>
          <a:prstGeom prst="rect">
            <a:avLst/>
          </a:prstGeom>
          <a:solidFill>
            <a:srgbClr val="7F1D1D"/>
          </a:solidFill>
          <a:ln cap="flat" cmpd="sng" w="12700">
            <a:solidFill>
              <a:srgbClr val="7F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11480" y="914400"/>
            <a:ext cx="3749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A5A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CA5A5"/>
                </a:solidFill>
                <a:latin typeface="Calibri"/>
                <a:ea typeface="Calibri"/>
                <a:cs typeface="Calibri"/>
                <a:sym typeface="Calibri"/>
              </a:rPr>
              <a:t>⚠  PROBLEMA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57200" y="1463040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💸  Gestión manual de pagos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457200" y="1984248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📉  Alta morosidad en el edificio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57200" y="2505456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🔒  Falta de transparencia financiera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457200" y="3026664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⏱  Retrasos administrativos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457200" y="3547872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📋  Sin historial digital de deudas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892040" y="914400"/>
            <a:ext cx="3931920" cy="356616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4892040" y="914400"/>
            <a:ext cx="3931920" cy="41148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4983480" y="914400"/>
            <a:ext cx="3749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✅  SOLUCIÓN PROPUESTA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029200" y="141732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Sistema web para automatizar la gestión de gastos comunes del Edificio El Mirador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5029200" y="2194560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🌐  Plataforma web y móvil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5029200" y="2715768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🔔  Recordatorios automáticos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029200" y="3236976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📊  Reportes financieros en tiempo real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029200" y="3758184"/>
            <a:ext cx="3566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👥  Gestión de 3 tipos de usuarios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297680" y="24231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SISTEMA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Objetivos Principales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320040" y="960120"/>
            <a:ext cx="2240280" cy="169164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320040" y="960120"/>
            <a:ext cx="2240280" cy="47548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393192" y="96012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🤖  Automatizar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393192" y="1490472"/>
            <a:ext cx="2103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Procesos de cobro y notificación de pagos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2715768" y="960120"/>
            <a:ext cx="2240280" cy="169164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"/>
          <p:cNvSpPr/>
          <p:nvPr/>
        </p:nvSpPr>
        <p:spPr>
          <a:xfrm>
            <a:off x="2715768" y="960120"/>
            <a:ext cx="2240280" cy="47548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2788920" y="96012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📉  Reducir morosidad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2788920" y="1490472"/>
            <a:ext cx="2103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Mediante recordatorios y seguimiento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120640" y="960120"/>
            <a:ext cx="2240280" cy="169164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5120640" y="960120"/>
            <a:ext cx="2240280" cy="47548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5193792" y="96012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📊  Reportes financieros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5193792" y="1490472"/>
            <a:ext cx="2103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Historial y estado en tiempo real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508760" y="2834640"/>
            <a:ext cx="2240280" cy="169164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1508760" y="2834640"/>
            <a:ext cx="2240280" cy="47548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1581912" y="283464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💬  Comunicación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1581912" y="3364992"/>
            <a:ext cx="2103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Canal directo entre residentes y administración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913632" y="2834640"/>
            <a:ext cx="2240280" cy="169164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3913632" y="2834640"/>
            <a:ext cx="2240280" cy="47548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3986784" y="283464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⚙️  Optimizar procesos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986784" y="3364992"/>
            <a:ext cx="2103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Eliminar gestión manual ineficiente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Diseño del Sistema – Modelo 4+1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175" y="894445"/>
            <a:ext cx="8303643" cy="41071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DE ESCENARIO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Diagrama de Casos de Uso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840480" y="914400"/>
            <a:ext cx="4983600" cy="11886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3840480" y="914400"/>
            <a:ext cx="63900" cy="1188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4005072" y="960120"/>
            <a:ext cx="4663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🏠  Residente (Propietario)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005072" y="1389888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Ver historial, registrar pagos, enviar reclamos, recibir recordatorios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3840480" y="2331720"/>
            <a:ext cx="4983600" cy="11886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"/>
          <p:cNvSpPr/>
          <p:nvPr/>
        </p:nvSpPr>
        <p:spPr>
          <a:xfrm>
            <a:off x="3840480" y="2331720"/>
            <a:ext cx="63900" cy="1188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4005072" y="2377440"/>
            <a:ext cx="4663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👔  Administración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005072" y="2807208"/>
            <a:ext cx="4663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Registrar residentes, identificar morosos, generar informes, emitir recibos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3840480" y="3749040"/>
            <a:ext cx="4983480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3840480" y="3749040"/>
            <a:ext cx="64008" cy="11887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/>
          <p:nvPr/>
        </p:nvSpPr>
        <p:spPr>
          <a:xfrm>
            <a:off x="4005072" y="3794760"/>
            <a:ext cx="4663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🔑  Arrendatario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005072" y="4224528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Acceso por código único, ver deudas, pagar GC si el dueño lo autoriza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3909125" y="4759450"/>
            <a:ext cx="4892100" cy="3840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3909120" y="4759443"/>
            <a:ext cx="4800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📌  13 casos de uso documentados — 3 actores principales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5" title="Diagrama  de CU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538" y="872495"/>
            <a:ext cx="2602287" cy="4107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DE ESCENARIO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Caso de Uso Específico – Registrar Residente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5486400" y="868680"/>
            <a:ext cx="3337560" cy="36118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5577840" y="91440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FLUJO DEL PROCESO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5577840" y="132588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1. Administrador inicia el flujo de registro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5577840" y="1819656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2. Sistema valida los datos del residente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5577840" y="2313432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3. Verifica disponibilidad de la unidad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577840" y="280720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4. Vincula la unidad habitacional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5577840" y="3300984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5. Genera credenciales de acceso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5577840" y="3794760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6. Notifica al residente con su cuenta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5486400" y="4617720"/>
            <a:ext cx="3337560" cy="47548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5577840" y="4617720"/>
            <a:ext cx="31546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🔄  Curso alt.: unidad ya ocupada → muestra error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6" title="Diagrama de Casos de Uso Especific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893" y="1151195"/>
            <a:ext cx="5181600" cy="3723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LÓGICA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Diagrama de Clases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663440" y="896112"/>
            <a:ext cx="2084832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4663440" y="896112"/>
            <a:ext cx="2084832" cy="34747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4754880" y="89611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Usuario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475488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Base de todos los actores (herencia)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6858000" y="896112"/>
            <a:ext cx="2084832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6858000" y="896112"/>
            <a:ext cx="2084832" cy="34747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6949440" y="89611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Pago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949440" y="1298448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Transacción con estado y método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4663440" y="2286000"/>
            <a:ext cx="2084832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4663440" y="2286000"/>
            <a:ext cx="2084832" cy="34747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754880" y="228600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Recibo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754880" y="2688336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Comprobante auto-generado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6858000" y="2286000"/>
            <a:ext cx="2084832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858000" y="2286000"/>
            <a:ext cx="2084832" cy="34747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6949440" y="228600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GastoEdificio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6949440" y="2688336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Gasto mensual del edificio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4663440" y="3675888"/>
            <a:ext cx="2084832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4663440" y="3675888"/>
            <a:ext cx="2084832" cy="34747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4754880" y="367588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Reclamo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754880" y="4078224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Solicitud enviada a administración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6858000" y="3675888"/>
            <a:ext cx="2084832" cy="11887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6858000" y="3675888"/>
            <a:ext cx="2084832" cy="34747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6949440" y="367588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InformeFinanciero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6949440" y="4078224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Consolidado periódico de deudas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663450" y="4864600"/>
            <a:ext cx="4206300" cy="320100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4754880" y="4864595"/>
            <a:ext cx="4005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8 clases del dominio  ·  Patrón Herencia + Composición + Asociación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7" title="Diagrama de Clas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6100" y="731525"/>
            <a:ext cx="2639350" cy="443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DE DESARROLLO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Diagrama de Componentes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166360" y="896112"/>
            <a:ext cx="3657600" cy="841248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8"/>
          <p:cNvSpPr/>
          <p:nvPr/>
        </p:nvSpPr>
        <p:spPr>
          <a:xfrm>
            <a:off x="5166360" y="896112"/>
            <a:ext cx="54864" cy="841248"/>
          </a:xfrm>
          <a:prstGeom prst="rect">
            <a:avLst/>
          </a:prstGeom>
          <a:solidFill>
            <a:srgbClr val="0891B2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5303520" y="932688"/>
            <a:ext cx="3383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🖥  Presentación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5303520" y="1261872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SPA Web + App Móvil (iOS/Android)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5166360" y="1901952"/>
            <a:ext cx="3657600" cy="841248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5166360" y="1901952"/>
            <a:ext cx="54864" cy="84124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5303520" y="1938528"/>
            <a:ext cx="3383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⚙️  Negocio (API REST)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5303520" y="2267712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Autenticación, Pagos, Reportes, Notificaciones, Residentes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166360" y="2907792"/>
            <a:ext cx="3657600" cy="841248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5166360" y="2907792"/>
            <a:ext cx="54864" cy="84124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5303520" y="2944368"/>
            <a:ext cx="3383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🗄  Datos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5303520" y="3273552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PostgreSQL – Patrón Repositorio (encapsulado)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5166360" y="3913632"/>
            <a:ext cx="3657600" cy="841248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8"/>
          <p:cNvSpPr/>
          <p:nvPr/>
        </p:nvSpPr>
        <p:spPr>
          <a:xfrm>
            <a:off x="5166360" y="3913632"/>
            <a:ext cx="54864" cy="841248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5303520" y="3950208"/>
            <a:ext cx="3383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📧  Servicio Externo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303520" y="4279392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SendGrid/SMTP – notificaciones asíncronas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274320" y="4389120"/>
            <a:ext cx="4754880" cy="6400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8"/>
          <p:cNvSpPr/>
          <p:nvPr/>
        </p:nvSpPr>
        <p:spPr>
          <a:xfrm>
            <a:off x="411480" y="4407408"/>
            <a:ext cx="4480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🔍  El sistema se comunica entre capas únicamente por interfaces HTTP/REST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 garantizando desacoplamiento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8" title="Diagrama_de_Component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83920"/>
            <a:ext cx="4644179" cy="3352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DE DESARROLLO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Diagrama de Paquetes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6035040" y="914400"/>
            <a:ext cx="2834640" cy="6858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"/>
          <p:cNvSpPr/>
          <p:nvPr/>
        </p:nvSpPr>
        <p:spPr>
          <a:xfrm>
            <a:off x="6035040" y="914400"/>
            <a:ext cx="54864" cy="6858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6181344" y="941832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6181344" y="123444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Pantallas del residente y del administrador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6035040" y="1737360"/>
            <a:ext cx="2834640" cy="6858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6035040" y="1737360"/>
            <a:ext cx="54864" cy="6858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6181344" y="1764792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controlador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6181344" y="205740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Recibe acciones, decide qué lógica ejecutar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6035040" y="2560320"/>
            <a:ext cx="2834640" cy="6858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6035040" y="2560320"/>
            <a:ext cx="54864" cy="6858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6181344" y="2587752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modelo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6181344" y="288036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Entidades del negocio: pagos, usuarios, reclamos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6035040" y="3383280"/>
            <a:ext cx="2834640" cy="6858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6035040" y="3383280"/>
            <a:ext cx="54864" cy="6858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6181344" y="3410712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servicios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6181344" y="370332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Email, auditoría, generación de código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035040" y="4206240"/>
            <a:ext cx="2834640" cy="6858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6035040" y="4206240"/>
            <a:ext cx="54864" cy="6858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6181344" y="4233672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persistencia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6181344" y="45262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DAO para acceso a la base de datos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6035040" y="4892038"/>
            <a:ext cx="2834700" cy="2925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089904" y="4892038"/>
            <a:ext cx="2724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Flujo: vista → controlador → modelo → persistencia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2" name="Google Shape;232;p9" title="Diagrama_de_Paquet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83920"/>
            <a:ext cx="5402480" cy="41071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DE PROCESOS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Diagrama de Actividad – Pago de Gastos Comunes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4937760" y="731537"/>
            <a:ext cx="3886200" cy="6585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0"/>
          <p:cNvSpPr/>
          <p:nvPr/>
        </p:nvSpPr>
        <p:spPr>
          <a:xfrm>
            <a:off x="4937760" y="841265"/>
            <a:ext cx="438900" cy="4389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"/>
          <p:cNvSpPr/>
          <p:nvPr/>
        </p:nvSpPr>
        <p:spPr>
          <a:xfrm>
            <a:off x="4937760" y="841265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12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B112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5468112" y="768113"/>
            <a:ext cx="3264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Inicio de sesión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5468112" y="1069865"/>
            <a:ext cx="3264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 credenciales o código único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4937760" y="1508777"/>
            <a:ext cx="3886200" cy="6585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4937760" y="1618505"/>
            <a:ext cx="438900" cy="4389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4937760" y="1618505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12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B112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5468112" y="1545353"/>
            <a:ext cx="3264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Ver resumen de deudas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5468112" y="1847105"/>
            <a:ext cx="3264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Sistema muestra cuotas activas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4937760" y="2286017"/>
            <a:ext cx="3886200" cy="6585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4937760" y="2395745"/>
            <a:ext cx="438900" cy="4389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0"/>
          <p:cNvSpPr/>
          <p:nvPr/>
        </p:nvSpPr>
        <p:spPr>
          <a:xfrm>
            <a:off x="4937760" y="2395745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12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B112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5468112" y="2322593"/>
            <a:ext cx="3264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Seleccionar cuota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5468112" y="2624345"/>
            <a:ext cx="3264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Elige método de pago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4937760" y="3063257"/>
            <a:ext cx="3886200" cy="6585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0"/>
          <p:cNvSpPr/>
          <p:nvPr/>
        </p:nvSpPr>
        <p:spPr>
          <a:xfrm>
            <a:off x="4937760" y="3172985"/>
            <a:ext cx="438900" cy="4389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0"/>
          <p:cNvSpPr/>
          <p:nvPr/>
        </p:nvSpPr>
        <p:spPr>
          <a:xfrm>
            <a:off x="4937760" y="3172985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12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B112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5468112" y="3099833"/>
            <a:ext cx="3264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Confirmar pago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5468112" y="3401585"/>
            <a:ext cx="3264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El sistema registra la transacción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4937760" y="3840497"/>
            <a:ext cx="3886200" cy="6585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0"/>
          <p:cNvSpPr/>
          <p:nvPr/>
        </p:nvSpPr>
        <p:spPr>
          <a:xfrm>
            <a:off x="4937760" y="3950225"/>
            <a:ext cx="438900" cy="4389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0"/>
          <p:cNvSpPr/>
          <p:nvPr/>
        </p:nvSpPr>
        <p:spPr>
          <a:xfrm>
            <a:off x="4937760" y="3950225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12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B112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5468112" y="3877073"/>
            <a:ext cx="3264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Recibo + notificación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0"/>
          <p:cNvSpPr/>
          <p:nvPr/>
        </p:nvSpPr>
        <p:spPr>
          <a:xfrm>
            <a:off x="5468112" y="4178825"/>
            <a:ext cx="3264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Comprobante y correo automático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/>
          <p:nvPr/>
        </p:nvSpPr>
        <p:spPr>
          <a:xfrm>
            <a:off x="4937760" y="4617737"/>
            <a:ext cx="3886200" cy="658500"/>
          </a:xfrm>
          <a:prstGeom prst="rect">
            <a:avLst/>
          </a:prstGeom>
          <a:solidFill>
            <a:srgbClr val="1C191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0"/>
          <p:cNvSpPr/>
          <p:nvPr/>
        </p:nvSpPr>
        <p:spPr>
          <a:xfrm>
            <a:off x="4937760" y="4727465"/>
            <a:ext cx="438900" cy="438900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0"/>
          <p:cNvSpPr/>
          <p:nvPr/>
        </p:nvSpPr>
        <p:spPr>
          <a:xfrm>
            <a:off x="4937760" y="4727465"/>
            <a:ext cx="438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12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B112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0"/>
          <p:cNvSpPr/>
          <p:nvPr/>
        </p:nvSpPr>
        <p:spPr>
          <a:xfrm>
            <a:off x="5468112" y="4654313"/>
            <a:ext cx="3264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Curso alternativo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5468112" y="4956065"/>
            <a:ext cx="3264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 cancela → estado sin cambios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10" title="Diagrama_de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140" y="731525"/>
            <a:ext cx="3808859" cy="4411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VISTA FÍSICA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Diagrama de Despliegue – Infraestructura en Nube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6126480" y="960120"/>
            <a:ext cx="2743200" cy="8686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6126480" y="960120"/>
            <a:ext cx="54864" cy="8686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1"/>
          <p:cNvSpPr/>
          <p:nvPr/>
        </p:nvSpPr>
        <p:spPr>
          <a:xfrm>
            <a:off x="6272784" y="1005840"/>
            <a:ext cx="2514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💻  Cliente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6272784" y="1362456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Navegador web / App móvil – HTTPS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6126480" y="2011680"/>
            <a:ext cx="2743200" cy="8686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1"/>
          <p:cNvSpPr/>
          <p:nvPr/>
        </p:nvSpPr>
        <p:spPr>
          <a:xfrm>
            <a:off x="6126480" y="2011680"/>
            <a:ext cx="54864" cy="8686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6272784" y="2057400"/>
            <a:ext cx="2514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☁️  Servidor App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6272784" y="2414016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Docker en nube (AWS/Azure/GCP) – puerto 443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6126480" y="3063240"/>
            <a:ext cx="2743200" cy="8686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6126480" y="3063240"/>
            <a:ext cx="54864" cy="8686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6272784" y="3108960"/>
            <a:ext cx="2514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🗄  Base de Datos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6272784" y="3465576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PostgreSQL en VPC privada – backups diarios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126480" y="4114800"/>
            <a:ext cx="2743200" cy="8686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6126480" y="4114800"/>
            <a:ext cx="54864" cy="8686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1"/>
          <p:cNvSpPr/>
          <p:nvPr/>
        </p:nvSpPr>
        <p:spPr>
          <a:xfrm>
            <a:off x="6272784" y="4160520"/>
            <a:ext cx="2514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📧  Notificaciones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6272784" y="4517136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SendGrid/SES – envío asíncrono de correos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6126480" y="5138928"/>
            <a:ext cx="2743200" cy="27432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1"/>
          <p:cNvSpPr/>
          <p:nvPr/>
        </p:nvSpPr>
        <p:spPr>
          <a:xfrm>
            <a:off x="6181344" y="5138928"/>
            <a:ext cx="26334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🔒  TLS 1.2+ · Escalado horizontal ante alta demanda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11" title="Diagrama_de_Despliegue(1)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83920"/>
            <a:ext cx="5821680" cy="392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2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2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PLANIFICACIÓN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Carta Gantt – Plan de Trabajo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320040" y="4160520"/>
            <a:ext cx="320040" cy="256032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2"/>
          <p:cNvSpPr/>
          <p:nvPr/>
        </p:nvSpPr>
        <p:spPr>
          <a:xfrm>
            <a:off x="731520" y="413308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Mayo: Planificación y Diseño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2450592" y="4160520"/>
            <a:ext cx="320040" cy="256032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2"/>
          <p:cNvSpPr/>
          <p:nvPr/>
        </p:nvSpPr>
        <p:spPr>
          <a:xfrm>
            <a:off x="2862072" y="413308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Mayo–Jun: Construcción (4 módulos)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4581144" y="4160520"/>
            <a:ext cx="320040" cy="256032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2"/>
          <p:cNvSpPr/>
          <p:nvPr/>
        </p:nvSpPr>
        <p:spPr>
          <a:xfrm>
            <a:off x="4992624" y="413308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Jun–Jul: Integración y Pruebas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6711696" y="4160520"/>
            <a:ext cx="320040" cy="256032"/>
          </a:xfrm>
          <a:prstGeom prst="rect">
            <a:avLst/>
          </a:prstGeom>
          <a:solidFill>
            <a:srgbClr val="EAB308"/>
          </a:solidFill>
          <a:ln cap="flat" cmpd="sng" w="12700">
            <a:solidFill>
              <a:srgbClr val="EAB30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2"/>
          <p:cNvSpPr/>
          <p:nvPr/>
        </p:nvSpPr>
        <p:spPr>
          <a:xfrm>
            <a:off x="7123176" y="413308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Jul–Ago: Documentación y Entrega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2"/>
          <p:cNvSpPr/>
          <p:nvPr/>
        </p:nvSpPr>
        <p:spPr>
          <a:xfrm>
            <a:off x="411480" y="4572000"/>
            <a:ext cx="8321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18 actividades  ·  Mayo → Agosto 2026  ·  Etapas secuenciales, cada fase depende de la anterior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0" name="Google Shape;320;p12" title="CartaGant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450" y="883920"/>
            <a:ext cx="7883095" cy="30967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3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3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3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REQUISITOS DE CALIDAD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Atributos ISO/IEC 25010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320040" y="960120"/>
            <a:ext cx="2633472" cy="17830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3"/>
          <p:cNvSpPr/>
          <p:nvPr/>
        </p:nvSpPr>
        <p:spPr>
          <a:xfrm>
            <a:off x="320040" y="960120"/>
            <a:ext cx="2633472" cy="4572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3"/>
          <p:cNvSpPr/>
          <p:nvPr/>
        </p:nvSpPr>
        <p:spPr>
          <a:xfrm>
            <a:off x="411480" y="996696"/>
            <a:ext cx="245059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🔐  Seguridad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411480" y="1490472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HTTPS · JWT · AES-256 · OWASP Top 10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3"/>
          <p:cNvSpPr/>
          <p:nvPr/>
        </p:nvSpPr>
        <p:spPr>
          <a:xfrm>
            <a:off x="320040" y="2368296"/>
            <a:ext cx="2633472" cy="32918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3"/>
          <p:cNvSpPr/>
          <p:nvPr/>
        </p:nvSpPr>
        <p:spPr>
          <a:xfrm>
            <a:off x="411480" y="2368296"/>
            <a:ext cx="24505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🔬 OWASP ZAP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3172968" y="960120"/>
            <a:ext cx="2633472" cy="17830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3"/>
          <p:cNvSpPr/>
          <p:nvPr/>
        </p:nvSpPr>
        <p:spPr>
          <a:xfrm>
            <a:off x="3172968" y="960120"/>
            <a:ext cx="2633472" cy="4572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3"/>
          <p:cNvSpPr/>
          <p:nvPr/>
        </p:nvSpPr>
        <p:spPr>
          <a:xfrm>
            <a:off x="3264408" y="996696"/>
            <a:ext cx="245059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🖱  Usabilidad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3264408" y="1490472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Diseño responsivo · Compatible móvil · WCAG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3"/>
          <p:cNvSpPr/>
          <p:nvPr/>
        </p:nvSpPr>
        <p:spPr>
          <a:xfrm>
            <a:off x="3172968" y="2368296"/>
            <a:ext cx="2633472" cy="32918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3"/>
          <p:cNvSpPr/>
          <p:nvPr/>
        </p:nvSpPr>
        <p:spPr>
          <a:xfrm>
            <a:off x="3264408" y="2368296"/>
            <a:ext cx="24505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🔬 Tests con usuarios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6035040" y="960120"/>
            <a:ext cx="2633472" cy="17830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3"/>
          <p:cNvSpPr/>
          <p:nvPr/>
        </p:nvSpPr>
        <p:spPr>
          <a:xfrm>
            <a:off x="6035040" y="960120"/>
            <a:ext cx="2633472" cy="4572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3"/>
          <p:cNvSpPr/>
          <p:nvPr/>
        </p:nvSpPr>
        <p:spPr>
          <a:xfrm>
            <a:off x="6126480" y="996696"/>
            <a:ext cx="245059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⚡  Rendimiento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3"/>
          <p:cNvSpPr/>
          <p:nvPr/>
        </p:nvSpPr>
        <p:spPr>
          <a:xfrm>
            <a:off x="6126480" y="1490472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&lt; 2 s en P95 · 160 usuarios concurrentes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3"/>
          <p:cNvSpPr/>
          <p:nvPr/>
        </p:nvSpPr>
        <p:spPr>
          <a:xfrm>
            <a:off x="6035040" y="2368296"/>
            <a:ext cx="2633472" cy="32918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3"/>
          <p:cNvSpPr/>
          <p:nvPr/>
        </p:nvSpPr>
        <p:spPr>
          <a:xfrm>
            <a:off x="6126480" y="2368296"/>
            <a:ext cx="24505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🔬 JMeter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1737360" y="3017520"/>
            <a:ext cx="2633472" cy="17830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1737360" y="3017520"/>
            <a:ext cx="2633472" cy="4572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1828800" y="3054096"/>
            <a:ext cx="245059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🔧  Mantenibilidad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1828800" y="3547872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Deuda técnica &lt; 5% · Código modular en capas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1737360" y="4425696"/>
            <a:ext cx="2633472" cy="32918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1828800" y="4425696"/>
            <a:ext cx="24505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🔬 SonarQube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3"/>
          <p:cNvSpPr/>
          <p:nvPr/>
        </p:nvSpPr>
        <p:spPr>
          <a:xfrm>
            <a:off x="4617720" y="3017520"/>
            <a:ext cx="2633472" cy="178308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4617720" y="3017520"/>
            <a:ext cx="2633472" cy="4572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4709160" y="3054096"/>
            <a:ext cx="245059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📱  Portabilidad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/>
          <p:nvPr/>
        </p:nvSpPr>
        <p:spPr>
          <a:xfrm>
            <a:off x="4709160" y="3547872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Web + iOS + Android · Contenedor Docker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4617720" y="4425696"/>
            <a:ext cx="2633472" cy="329184"/>
          </a:xfrm>
          <a:prstGeom prst="rect">
            <a:avLst/>
          </a:prstGeom>
          <a:solidFill>
            <a:srgbClr val="1E3A5F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3"/>
          <p:cNvSpPr/>
          <p:nvPr/>
        </p:nvSpPr>
        <p:spPr>
          <a:xfrm>
            <a:off x="4709160" y="4425696"/>
            <a:ext cx="24505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🔬 Lighthouse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f1c473a34b_0_0"/>
          <p:cNvSpPr/>
          <p:nvPr/>
        </p:nvSpPr>
        <p:spPr>
          <a:xfrm>
            <a:off x="0" y="0"/>
            <a:ext cx="9144000" cy="73140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3f1c473a34b_0_0"/>
          <p:cNvSpPr/>
          <p:nvPr/>
        </p:nvSpPr>
        <p:spPr>
          <a:xfrm>
            <a:off x="0" y="0"/>
            <a:ext cx="201300" cy="7314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f1c473a34b_0_0"/>
          <p:cNvSpPr/>
          <p:nvPr/>
        </p:nvSpPr>
        <p:spPr>
          <a:xfrm>
            <a:off x="2971797" y="2206050"/>
            <a:ext cx="32004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lang="en-US" sz="5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PROTOTIPO</a:t>
            </a:r>
            <a:endParaRPr b="0" i="0" sz="5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g3f1c473a34b_0_0"/>
          <p:cNvSpPr/>
          <p:nvPr/>
        </p:nvSpPr>
        <p:spPr>
          <a:xfrm>
            <a:off x="3657600" y="0"/>
            <a:ext cx="53034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Atributos ISO/IEC 25010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4"/>
          <p:cNvSpPr/>
          <p:nvPr/>
        </p:nvSpPr>
        <p:spPr>
          <a:xfrm>
            <a:off x="-1097280" y="2286000"/>
            <a:ext cx="4114800" cy="4114800"/>
          </a:xfrm>
          <a:prstGeom prst="ellipse">
            <a:avLst/>
          </a:prstGeom>
          <a:solidFill>
            <a:srgbClr val="0D9488">
              <a:alpha val="12156"/>
            </a:srgbClr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4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13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4"/>
          <p:cNvSpPr/>
          <p:nvPr/>
        </p:nvSpPr>
        <p:spPr>
          <a:xfrm>
            <a:off x="0" y="0"/>
            <a:ext cx="201168" cy="7315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4"/>
          <p:cNvSpPr/>
          <p:nvPr/>
        </p:nvSpPr>
        <p:spPr>
          <a:xfrm>
            <a:off x="347472" y="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4"/>
          <p:cNvSpPr/>
          <p:nvPr/>
        </p:nvSpPr>
        <p:spPr>
          <a:xfrm>
            <a:off x="3657600" y="0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457200" y="960120"/>
            <a:ext cx="8366760" cy="694944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4"/>
          <p:cNvSpPr/>
          <p:nvPr/>
        </p:nvSpPr>
        <p:spPr>
          <a:xfrm>
            <a:off x="457200" y="960120"/>
            <a:ext cx="54864" cy="694944"/>
          </a:xfrm>
          <a:prstGeom prst="rect">
            <a:avLst/>
          </a:prstGeom>
          <a:solidFill>
            <a:srgbClr val="2DD4BF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4"/>
          <p:cNvSpPr/>
          <p:nvPr/>
        </p:nvSpPr>
        <p:spPr>
          <a:xfrm>
            <a:off x="640080" y="100584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🏗  Arquitectura en capas + MVC + Repositorio: mantenible y escalable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4"/>
          <p:cNvSpPr/>
          <p:nvPr/>
        </p:nvSpPr>
        <p:spPr>
          <a:xfrm>
            <a:off x="457200" y="1801368"/>
            <a:ext cx="8366760" cy="694944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4"/>
          <p:cNvSpPr/>
          <p:nvPr/>
        </p:nvSpPr>
        <p:spPr>
          <a:xfrm>
            <a:off x="457200" y="1801368"/>
            <a:ext cx="54864" cy="69494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4"/>
          <p:cNvSpPr/>
          <p:nvPr/>
        </p:nvSpPr>
        <p:spPr>
          <a:xfrm>
            <a:off x="640080" y="1847088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📐  Modelo 4+1 documenta el sistema desde 5 perspectivas complementarias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457200" y="2642616"/>
            <a:ext cx="8366760" cy="694944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4"/>
          <p:cNvSpPr/>
          <p:nvPr/>
        </p:nvSpPr>
        <p:spPr>
          <a:xfrm>
            <a:off x="457200" y="2642616"/>
            <a:ext cx="54864" cy="69494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4"/>
          <p:cNvSpPr/>
          <p:nvPr/>
        </p:nvSpPr>
        <p:spPr>
          <a:xfrm>
            <a:off x="640080" y="2688336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📉  Reduce morosidad y errores mediante automatización total del flujo de pago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457200" y="3483864"/>
            <a:ext cx="8366760" cy="694944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4"/>
          <p:cNvSpPr/>
          <p:nvPr/>
        </p:nvSpPr>
        <p:spPr>
          <a:xfrm>
            <a:off x="457200" y="3483864"/>
            <a:ext cx="54864" cy="69494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4"/>
          <p:cNvSpPr/>
          <p:nvPr/>
        </p:nvSpPr>
        <p:spPr>
          <a:xfrm>
            <a:off x="640080" y="3529584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🔒  Protege datos financieros con HTTPS, JWT y cifrado AES-256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457200" y="4325112"/>
            <a:ext cx="8366760" cy="694944"/>
          </a:xfrm>
          <a:prstGeom prst="rect">
            <a:avLst/>
          </a:prstGeom>
          <a:solidFill>
            <a:srgbClr val="131F33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4"/>
          <p:cNvSpPr/>
          <p:nvPr/>
        </p:nvSpPr>
        <p:spPr>
          <a:xfrm>
            <a:off x="457200" y="4325112"/>
            <a:ext cx="54864" cy="69494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4"/>
          <p:cNvSpPr/>
          <p:nvPr/>
        </p:nvSpPr>
        <p:spPr>
          <a:xfrm>
            <a:off x="640080" y="437083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DF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FDFA"/>
                </a:solidFill>
                <a:latin typeface="Calibri"/>
                <a:ea typeface="Calibri"/>
                <a:cs typeface="Calibri"/>
                <a:sym typeface="Calibri"/>
              </a:rPr>
              <a:t>🚀  Infraestructura en nube: escalable ante picos de demanda de inicio de mes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4"/>
          <p:cNvSpPr/>
          <p:nvPr/>
        </p:nvSpPr>
        <p:spPr>
          <a:xfrm>
            <a:off x="2484845" y="264752"/>
            <a:ext cx="4023300" cy="3108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4"/>
          <p:cNvSpPr/>
          <p:nvPr/>
        </p:nvSpPr>
        <p:spPr>
          <a:xfrm>
            <a:off x="2484845" y="264752"/>
            <a:ext cx="4023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Software </a:t>
            </a:r>
            <a:r>
              <a:rPr b="1" lang="en-US" sz="1000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El Mirador</a:t>
            </a:r>
            <a:r>
              <a:rPr b="1" lang="en-US" sz="1000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  · </a:t>
            </a:r>
            <a:r>
              <a:rPr b="1" lang="en-US" sz="1000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Felipe Hernández - Matías Guerra</a:t>
            </a:r>
            <a:r>
              <a:rPr b="1" i="0" lang="en-US" sz="10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  · 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2026-05-21T20:00:54Z</dcterms:created>
  <dc:creator>PptxGenJS</dc:creator>
</cp:coreProperties>
</file>